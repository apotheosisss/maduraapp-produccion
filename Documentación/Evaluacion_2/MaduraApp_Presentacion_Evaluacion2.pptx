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95" d="100"/>
          <a:sy n="95" d="100"/>
        </p:scale>
        <p:origin x="810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4103692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3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4CAF50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3" name="Text 1"/>
          <p:cNvSpPr/>
          <p:nvPr/>
        </p:nvSpPr>
        <p:spPr>
          <a:xfrm>
            <a:off x="365760" y="457200"/>
            <a:ext cx="1828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200" dirty="0">
                <a:solidFill>
                  <a:srgbClr val="000000"/>
                </a:solidFill>
              </a:rPr>
              <a:t>🥑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2468880" y="457200"/>
            <a:ext cx="1828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200" dirty="0">
                <a:solidFill>
                  <a:srgbClr val="000000"/>
                </a:solidFill>
              </a:rPr>
              <a:t>🍌</a:t>
            </a:r>
            <a:endParaRPr lang="en-US" sz="5200" dirty="0"/>
          </a:p>
        </p:txBody>
      </p:sp>
      <p:sp>
        <p:nvSpPr>
          <p:cNvPr id="5" name="Text 3"/>
          <p:cNvSpPr/>
          <p:nvPr/>
        </p:nvSpPr>
        <p:spPr>
          <a:xfrm>
            <a:off x="4572000" y="457200"/>
            <a:ext cx="1828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200" dirty="0">
                <a:solidFill>
                  <a:srgbClr val="000000"/>
                </a:solidFill>
              </a:rPr>
              <a:t>🍅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6675120" y="457200"/>
            <a:ext cx="1828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200" dirty="0">
                <a:solidFill>
                  <a:srgbClr val="000000"/>
                </a:solidFill>
              </a:rPr>
              <a:t>🥭</a:t>
            </a:r>
            <a:endParaRPr lang="en-US" sz="5200" dirty="0"/>
          </a:p>
        </p:txBody>
      </p:sp>
      <p:sp>
        <p:nvSpPr>
          <p:cNvPr id="7" name="Text 5"/>
          <p:cNvSpPr/>
          <p:nvPr/>
        </p:nvSpPr>
        <p:spPr>
          <a:xfrm>
            <a:off x="457200" y="141732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800" b="1" kern="0" spc="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MaduraApp</a:t>
            </a:r>
            <a:endParaRPr lang="en-US" sz="5800" dirty="0"/>
          </a:p>
        </p:txBody>
      </p:sp>
      <p:sp>
        <p:nvSpPr>
          <p:cNvPr id="8" name="Text 6"/>
          <p:cNvSpPr/>
          <p:nvPr/>
        </p:nvSpPr>
        <p:spPr>
          <a:xfrm>
            <a:off x="457200" y="24231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i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de Análisis de Madurez Agrícola con Visión Computacional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200400" y="2999232"/>
            <a:ext cx="2743200" cy="36576"/>
          </a:xfrm>
          <a:prstGeom prst="rect">
            <a:avLst/>
          </a:prstGeom>
          <a:solidFill>
            <a:srgbClr val="2E7D32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0" name="Shape 8"/>
          <p:cNvSpPr/>
          <p:nvPr/>
        </p:nvSpPr>
        <p:spPr>
          <a:xfrm>
            <a:off x="1371600" y="3154680"/>
            <a:ext cx="6400800" cy="777240"/>
          </a:xfrm>
          <a:prstGeom prst="rect">
            <a:avLst/>
          </a:prstGeom>
          <a:solidFill>
            <a:srgbClr val="1B3A24"/>
          </a:solidFill>
          <a:ln w="12700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1" name="Text 9"/>
          <p:cNvSpPr/>
          <p:nvPr/>
        </p:nvSpPr>
        <p:spPr>
          <a:xfrm>
            <a:off x="1371600" y="3154680"/>
            <a:ext cx="6400800" cy="777240"/>
          </a:xfrm>
          <a:prstGeom prst="rect">
            <a:avLst/>
          </a:prstGeom>
          <a:noFill/>
          <a:ln/>
        </p:spPr>
        <p:txBody>
          <a:bodyPr wrap="square" lIns="152400" tIns="152400" rIns="152400" bIns="15240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C8E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Aplicado de Programación (TPY1101)  ·  DuocUC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C8E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Evaluación Parcial N° 2  ·  Mayo 2026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57200" y="4114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400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INTEGRANTES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57200" y="437083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Claudio Vicente Aro Kath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57200" y="473659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Docente: José Ignacio Campos </a:t>
            </a:r>
            <a:r>
              <a:rPr lang="en-US" sz="1100" i="1" dirty="0" err="1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Árevalo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0" y="5102352"/>
            <a:ext cx="9144000" cy="41148"/>
          </a:xfrm>
          <a:prstGeom prst="rect">
            <a:avLst/>
          </a:prstGeom>
          <a:solidFill>
            <a:srgbClr val="2E7D32"/>
          </a:solidFill>
          <a:ln/>
        </p:spPr>
        <p:txBody>
          <a:bodyPr/>
          <a:lstStyle/>
          <a:p>
            <a:endParaRPr lang="es-CL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B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4747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Problema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969264"/>
            <a:ext cx="1097280" cy="50292"/>
          </a:xfrm>
          <a:prstGeom prst="rect">
            <a:avLst/>
          </a:prstGeom>
          <a:solidFill>
            <a:srgbClr val="4CAF50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2743200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C8E6C9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L"/>
          </a:p>
        </p:txBody>
      </p:sp>
      <p:sp>
        <p:nvSpPr>
          <p:cNvPr id="5" name="Text 3"/>
          <p:cNvSpPr/>
          <p:nvPr/>
        </p:nvSpPr>
        <p:spPr>
          <a:xfrm>
            <a:off x="457200" y="13258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20–40%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502920" y="2331720"/>
            <a:ext cx="2651760" cy="64008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la producción de frutas se pierde post-cosecha en Chile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02920" y="297180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FAO  ·  ODEPA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474720" y="1188720"/>
            <a:ext cx="521208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8E6C9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L"/>
          </a:p>
        </p:txBody>
      </p:sp>
      <p:sp>
        <p:nvSpPr>
          <p:cNvPr id="9" name="Text 7"/>
          <p:cNvSpPr/>
          <p:nvPr/>
        </p:nvSpPr>
        <p:spPr>
          <a:xfrm>
            <a:off x="3474720" y="1188720"/>
            <a:ext cx="594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⏱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4114800" y="122529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criterio objetivo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114800" y="1490472"/>
            <a:ext cx="4480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determinar el momento óptimo de consumo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474720" y="1956816"/>
            <a:ext cx="521208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8E6C9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L"/>
          </a:p>
        </p:txBody>
      </p:sp>
      <p:sp>
        <p:nvSpPr>
          <p:cNvPr id="13" name="Text 11"/>
          <p:cNvSpPr/>
          <p:nvPr/>
        </p:nvSpPr>
        <p:spPr>
          <a:xfrm>
            <a:off x="3474720" y="1956816"/>
            <a:ext cx="594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📦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4114800" y="1993392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Pérdidas en cadena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114800" y="2258568"/>
            <a:ext cx="4480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distribuidores, ferias y consumidores finales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474720" y="2724912"/>
            <a:ext cx="521208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C8E6C9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L"/>
          </a:p>
        </p:txBody>
      </p:sp>
      <p:sp>
        <p:nvSpPr>
          <p:cNvPr id="17" name="Text 15"/>
          <p:cNvSpPr/>
          <p:nvPr/>
        </p:nvSpPr>
        <p:spPr>
          <a:xfrm>
            <a:off x="3474720" y="2724912"/>
            <a:ext cx="594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🏭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4114800" y="276148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Impacto económico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114800" y="3026664"/>
            <a:ext cx="4480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40% corresponde a pequeños productores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6634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Frutas climatéricas: aguacate Hass, plátano, tomate cherry, mango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B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4747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Solución: MaduraApp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969264"/>
            <a:ext cx="1097280" cy="50292"/>
          </a:xfrm>
          <a:prstGeom prst="rect">
            <a:avLst/>
          </a:prstGeom>
          <a:solidFill>
            <a:srgbClr val="4CAF50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251460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C8E6C9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L"/>
          </a:p>
        </p:txBody>
      </p:sp>
      <p:sp>
        <p:nvSpPr>
          <p:cNvPr id="5" name="Text 3"/>
          <p:cNvSpPr/>
          <p:nvPr/>
        </p:nvSpPr>
        <p:spPr>
          <a:xfrm>
            <a:off x="457200" y="1261872"/>
            <a:ext cx="2514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dirty="0">
                <a:solidFill>
                  <a:srgbClr val="000000"/>
                </a:solidFill>
              </a:rPr>
              <a:t>📱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457200" y="2084832"/>
            <a:ext cx="2514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Android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57200" y="2450592"/>
            <a:ext cx="2514600" cy="64008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CameraX + galería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Selector de fruta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2944368" y="19933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3291840" y="1188720"/>
            <a:ext cx="251460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C8E6C9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L"/>
          </a:p>
        </p:txBody>
      </p:sp>
      <p:sp>
        <p:nvSpPr>
          <p:cNvPr id="10" name="Text 8"/>
          <p:cNvSpPr/>
          <p:nvPr/>
        </p:nvSpPr>
        <p:spPr>
          <a:xfrm>
            <a:off x="3291840" y="1261872"/>
            <a:ext cx="2514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dirty="0">
                <a:solidFill>
                  <a:srgbClr val="000000"/>
                </a:solidFill>
              </a:rPr>
              <a:t>⚡</a:t>
            </a:r>
            <a:endParaRPr lang="en-US" sz="4000" dirty="0"/>
          </a:p>
        </p:txBody>
      </p:sp>
      <p:sp>
        <p:nvSpPr>
          <p:cNvPr id="11" name="Text 9"/>
          <p:cNvSpPr/>
          <p:nvPr/>
        </p:nvSpPr>
        <p:spPr>
          <a:xfrm>
            <a:off x="3291840" y="2084832"/>
            <a:ext cx="2514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3291840" y="2450592"/>
            <a:ext cx="2514600" cy="64008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Inferencia YOLO26n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Respuesta &lt; 2.5 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779008" y="19933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6126480" y="1188720"/>
            <a:ext cx="251460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C8E6C9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L"/>
          </a:p>
        </p:txBody>
      </p:sp>
      <p:sp>
        <p:nvSpPr>
          <p:cNvPr id="15" name="Text 13"/>
          <p:cNvSpPr/>
          <p:nvPr/>
        </p:nvSpPr>
        <p:spPr>
          <a:xfrm>
            <a:off x="6126480" y="1261872"/>
            <a:ext cx="2514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dirty="0">
                <a:solidFill>
                  <a:srgbClr val="000000"/>
                </a:solidFill>
              </a:rPr>
              <a:t>🎯</a:t>
            </a:r>
            <a:endParaRPr lang="en-US" sz="4000" dirty="0"/>
          </a:p>
        </p:txBody>
      </p:sp>
      <p:sp>
        <p:nvSpPr>
          <p:cNvPr id="16" name="Text 14"/>
          <p:cNvSpPr/>
          <p:nvPr/>
        </p:nvSpPr>
        <p:spPr>
          <a:xfrm>
            <a:off x="6126480" y="2084832"/>
            <a:ext cx="2514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Diagnóstico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126480" y="2450592"/>
            <a:ext cx="2514600" cy="64008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Inmaduro / Óptimo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Sobre maduro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57200" y="340156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frutas soportadas: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57200" y="3730752"/>
            <a:ext cx="192024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C8E6C9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L"/>
          </a:p>
        </p:txBody>
      </p:sp>
      <p:sp>
        <p:nvSpPr>
          <p:cNvPr id="20" name="Text 18"/>
          <p:cNvSpPr/>
          <p:nvPr/>
        </p:nvSpPr>
        <p:spPr>
          <a:xfrm>
            <a:off x="457200" y="374904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🥑</a:t>
            </a:r>
            <a:endParaRPr lang="en-US" sz="2800" dirty="0"/>
          </a:p>
        </p:txBody>
      </p:sp>
      <p:sp>
        <p:nvSpPr>
          <p:cNvPr id="21" name="Text 19"/>
          <p:cNvSpPr/>
          <p:nvPr/>
        </p:nvSpPr>
        <p:spPr>
          <a:xfrm>
            <a:off x="457200" y="425196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A2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Aguacate Hass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2560320" y="3730752"/>
            <a:ext cx="192024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C8E6C9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L"/>
          </a:p>
        </p:txBody>
      </p:sp>
      <p:sp>
        <p:nvSpPr>
          <p:cNvPr id="23" name="Text 21"/>
          <p:cNvSpPr/>
          <p:nvPr/>
        </p:nvSpPr>
        <p:spPr>
          <a:xfrm>
            <a:off x="2560320" y="374904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🍌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560320" y="425196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A2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Plátano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663440" y="3730752"/>
            <a:ext cx="192024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C8E6C9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L"/>
          </a:p>
        </p:txBody>
      </p:sp>
      <p:sp>
        <p:nvSpPr>
          <p:cNvPr id="26" name="Text 24"/>
          <p:cNvSpPr/>
          <p:nvPr/>
        </p:nvSpPr>
        <p:spPr>
          <a:xfrm>
            <a:off x="4663440" y="374904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🍅</a:t>
            </a:r>
            <a:endParaRPr lang="en-US" sz="2800" dirty="0"/>
          </a:p>
        </p:txBody>
      </p:sp>
      <p:sp>
        <p:nvSpPr>
          <p:cNvPr id="27" name="Text 25"/>
          <p:cNvSpPr/>
          <p:nvPr/>
        </p:nvSpPr>
        <p:spPr>
          <a:xfrm>
            <a:off x="4663440" y="425196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A2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Tomate Cherry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766560" y="3730752"/>
            <a:ext cx="192024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C8E6C9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L"/>
          </a:p>
        </p:txBody>
      </p:sp>
      <p:sp>
        <p:nvSpPr>
          <p:cNvPr id="29" name="Text 27"/>
          <p:cNvSpPr/>
          <p:nvPr/>
        </p:nvSpPr>
        <p:spPr>
          <a:xfrm>
            <a:off x="6766560" y="374904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🥭</a:t>
            </a:r>
            <a:endParaRPr lang="en-US" sz="2800" dirty="0"/>
          </a:p>
        </p:txBody>
      </p:sp>
      <p:sp>
        <p:nvSpPr>
          <p:cNvPr id="30" name="Text 28"/>
          <p:cNvSpPr/>
          <p:nvPr/>
        </p:nvSpPr>
        <p:spPr>
          <a:xfrm>
            <a:off x="6766560" y="425196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A2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Mango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B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4747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 Tecnológico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969264"/>
            <a:ext cx="1097280" cy="50292"/>
          </a:xfrm>
          <a:prstGeom prst="rect">
            <a:avLst/>
          </a:prstGeom>
          <a:solidFill>
            <a:srgbClr val="4CAF50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2560320" cy="3703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8E6C9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L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2560320" cy="502920"/>
          </a:xfrm>
          <a:prstGeom prst="rect">
            <a:avLst/>
          </a:prstGeom>
          <a:solidFill>
            <a:srgbClr val="1B5E20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6" name="Text 4"/>
          <p:cNvSpPr/>
          <p:nvPr/>
        </p:nvSpPr>
        <p:spPr>
          <a:xfrm>
            <a:off x="502920" y="1188720"/>
            <a:ext cx="2468880" cy="50292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📱  Android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182880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2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Kotlin + CameraX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2340864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2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MVVM + LiveData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0080" y="2852928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2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Room (cache offline)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0080" y="3364992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2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Retrofit + OkHttp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0080" y="3877056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2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Kotlinx Serialization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291840" y="1188720"/>
            <a:ext cx="2560320" cy="3703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8E6C9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L"/>
          </a:p>
        </p:txBody>
      </p:sp>
      <p:sp>
        <p:nvSpPr>
          <p:cNvPr id="13" name="Shape 11"/>
          <p:cNvSpPr/>
          <p:nvPr/>
        </p:nvSpPr>
        <p:spPr>
          <a:xfrm>
            <a:off x="3291840" y="1188720"/>
            <a:ext cx="2560320" cy="502920"/>
          </a:xfrm>
          <a:prstGeom prst="rect">
            <a:avLst/>
          </a:prstGeom>
          <a:solidFill>
            <a:srgbClr val="1565C0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4" name="Text 12"/>
          <p:cNvSpPr/>
          <p:nvPr/>
        </p:nvSpPr>
        <p:spPr>
          <a:xfrm>
            <a:off x="3337560" y="1188720"/>
            <a:ext cx="2468880" cy="50292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⚙️  Backend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474720" y="182880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2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3.12 + FastAPI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474720" y="2340864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2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SQLAlchemy async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474720" y="2852928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2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Alembic (migraciones)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474720" y="3364992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2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+ Render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3474720" y="3877056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2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/ GitHub Actions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126480" y="1188720"/>
            <a:ext cx="2560320" cy="3703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8E6C9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L"/>
          </a:p>
        </p:txBody>
      </p:sp>
      <p:sp>
        <p:nvSpPr>
          <p:cNvPr id="21" name="Shape 19"/>
          <p:cNvSpPr/>
          <p:nvPr/>
        </p:nvSpPr>
        <p:spPr>
          <a:xfrm>
            <a:off x="6126480" y="1188720"/>
            <a:ext cx="2560320" cy="502920"/>
          </a:xfrm>
          <a:prstGeom prst="rect">
            <a:avLst/>
          </a:prstGeom>
          <a:solidFill>
            <a:srgbClr val="6A1B9A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22" name="Text 20"/>
          <p:cNvSpPr/>
          <p:nvPr/>
        </p:nvSpPr>
        <p:spPr>
          <a:xfrm>
            <a:off x="6172200" y="1188720"/>
            <a:ext cx="2468880" cy="50292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🧠  Modelo IA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309360" y="182880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2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YOLO26n (Ultralytics)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309360" y="2340864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2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PyTorch CPU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309360" y="2852928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2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31.940 imágenes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6309360" y="3364992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2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clases · 4 frutas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309360" y="3877056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2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TTA habilitado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B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4747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Arquitectura — Modelo 4+1 de Kruchten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969264"/>
            <a:ext cx="1097280" cy="50292"/>
          </a:xfrm>
          <a:prstGeom prst="rect">
            <a:avLst/>
          </a:prstGeom>
          <a:solidFill>
            <a:srgbClr val="4CAF50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4" name="Shape 2"/>
          <p:cNvSpPr/>
          <p:nvPr/>
        </p:nvSpPr>
        <p:spPr>
          <a:xfrm>
            <a:off x="457200" y="1170432"/>
            <a:ext cx="374904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C8E6C9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L"/>
          </a:p>
        </p:txBody>
      </p:sp>
      <p:sp>
        <p:nvSpPr>
          <p:cNvPr id="5" name="Shape 3"/>
          <p:cNvSpPr/>
          <p:nvPr/>
        </p:nvSpPr>
        <p:spPr>
          <a:xfrm>
            <a:off x="457200" y="1170432"/>
            <a:ext cx="548640" cy="1463040"/>
          </a:xfrm>
          <a:prstGeom prst="rect">
            <a:avLst/>
          </a:prstGeom>
          <a:solidFill>
            <a:srgbClr val="1B5E20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6" name="Text 4"/>
          <p:cNvSpPr/>
          <p:nvPr/>
        </p:nvSpPr>
        <p:spPr>
          <a:xfrm>
            <a:off x="457200" y="1170432"/>
            <a:ext cx="5486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1097280" y="1335024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2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Lógica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97280" y="1764792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Clases, DTOs y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componentes del dominio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26280" y="1170432"/>
            <a:ext cx="374904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C8E6C9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L"/>
          </a:p>
        </p:txBody>
      </p:sp>
      <p:sp>
        <p:nvSpPr>
          <p:cNvPr id="10" name="Shape 8"/>
          <p:cNvSpPr/>
          <p:nvPr/>
        </p:nvSpPr>
        <p:spPr>
          <a:xfrm>
            <a:off x="4526280" y="1170432"/>
            <a:ext cx="548640" cy="1463040"/>
          </a:xfrm>
          <a:prstGeom prst="rect">
            <a:avLst/>
          </a:prstGeom>
          <a:solidFill>
            <a:srgbClr val="1565C0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1" name="Text 9"/>
          <p:cNvSpPr/>
          <p:nvPr/>
        </p:nvSpPr>
        <p:spPr>
          <a:xfrm>
            <a:off x="4526280" y="1170432"/>
            <a:ext cx="5486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5166360" y="1335024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2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Procesos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5166360" y="1764792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Async, corutinas,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concurrencia FastAPI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57200" y="2889504"/>
            <a:ext cx="374904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C8E6C9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L"/>
          </a:p>
        </p:txBody>
      </p:sp>
      <p:sp>
        <p:nvSpPr>
          <p:cNvPr id="15" name="Shape 13"/>
          <p:cNvSpPr/>
          <p:nvPr/>
        </p:nvSpPr>
        <p:spPr>
          <a:xfrm>
            <a:off x="457200" y="2889504"/>
            <a:ext cx="548640" cy="1463040"/>
          </a:xfrm>
          <a:prstGeom prst="rect">
            <a:avLst/>
          </a:prstGeom>
          <a:solidFill>
            <a:srgbClr val="6A1B9A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6" name="Text 14"/>
          <p:cNvSpPr/>
          <p:nvPr/>
        </p:nvSpPr>
        <p:spPr>
          <a:xfrm>
            <a:off x="457200" y="2889504"/>
            <a:ext cx="5486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1097280" y="3054096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2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Desarrollo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097280" y="3483864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Paquetes, MVVM,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Architecture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26280" y="2889504"/>
            <a:ext cx="374904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C8E6C9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L"/>
          </a:p>
        </p:txBody>
      </p:sp>
      <p:sp>
        <p:nvSpPr>
          <p:cNvPr id="20" name="Shape 18"/>
          <p:cNvSpPr/>
          <p:nvPr/>
        </p:nvSpPr>
        <p:spPr>
          <a:xfrm>
            <a:off x="4526280" y="2889504"/>
            <a:ext cx="548640" cy="1463040"/>
          </a:xfrm>
          <a:prstGeom prst="rect">
            <a:avLst/>
          </a:prstGeom>
          <a:solidFill>
            <a:srgbClr val="B45309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21" name="Text 19"/>
          <p:cNvSpPr/>
          <p:nvPr/>
        </p:nvSpPr>
        <p:spPr>
          <a:xfrm>
            <a:off x="4526280" y="2889504"/>
            <a:ext cx="5486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800" dirty="0"/>
          </a:p>
        </p:txBody>
      </p:sp>
      <p:sp>
        <p:nvSpPr>
          <p:cNvPr id="22" name="Text 20"/>
          <p:cNvSpPr/>
          <p:nvPr/>
        </p:nvSpPr>
        <p:spPr>
          <a:xfrm>
            <a:off x="5166360" y="3054096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2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Física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5166360" y="3483864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Despliegue cloud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 · API · BD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2743200" y="4645152"/>
            <a:ext cx="365760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C8E6C9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L"/>
          </a:p>
        </p:txBody>
      </p:sp>
      <p:sp>
        <p:nvSpPr>
          <p:cNvPr id="25" name="Shape 23"/>
          <p:cNvSpPr/>
          <p:nvPr/>
        </p:nvSpPr>
        <p:spPr>
          <a:xfrm>
            <a:off x="2743200" y="4645152"/>
            <a:ext cx="457200" cy="384048"/>
          </a:xfrm>
          <a:prstGeom prst="rect">
            <a:avLst/>
          </a:prstGeom>
          <a:solidFill>
            <a:srgbClr val="4CAF50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26" name="Text 24"/>
          <p:cNvSpPr/>
          <p:nvPr/>
        </p:nvSpPr>
        <p:spPr>
          <a:xfrm>
            <a:off x="2743200" y="4645152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291840" y="4645152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2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Escenarios  —  7 casos de uso que integran y validan las 4 vistas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23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 del Modelo IA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96112"/>
            <a:ext cx="914400" cy="54864"/>
          </a:xfrm>
          <a:prstGeom prst="rect">
            <a:avLst/>
          </a:prstGeom>
          <a:solidFill>
            <a:srgbClr val="4CAF50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5029200" cy="2377440"/>
          </a:xfrm>
          <a:prstGeom prst="rect">
            <a:avLst/>
          </a:prstGeom>
          <a:solidFill>
            <a:srgbClr val="1B3A24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L"/>
          </a:p>
        </p:txBody>
      </p:sp>
      <p:sp>
        <p:nvSpPr>
          <p:cNvPr id="5" name="Text 3"/>
          <p:cNvSpPr/>
          <p:nvPr/>
        </p:nvSpPr>
        <p:spPr>
          <a:xfrm>
            <a:off x="457200" y="118872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C8E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mAP@50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57200" y="1600200"/>
            <a:ext cx="502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2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0.9229</a:t>
            </a:r>
            <a:endParaRPr lang="en-US" sz="7200" dirty="0"/>
          </a:p>
        </p:txBody>
      </p:sp>
      <p:sp>
        <p:nvSpPr>
          <p:cNvPr id="7" name="Text 5"/>
          <p:cNvSpPr/>
          <p:nvPr/>
        </p:nvSpPr>
        <p:spPr>
          <a:xfrm>
            <a:off x="457200" y="26974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C8E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mínimo exigido: ≥ 0.75  →  superado por +17.3 puntos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669280" y="1097280"/>
            <a:ext cx="1508760" cy="1051560"/>
          </a:xfrm>
          <a:prstGeom prst="rect">
            <a:avLst/>
          </a:prstGeom>
          <a:solidFill>
            <a:srgbClr val="1B3A24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L"/>
          </a:p>
        </p:txBody>
      </p:sp>
      <p:sp>
        <p:nvSpPr>
          <p:cNvPr id="9" name="Text 7"/>
          <p:cNvSpPr/>
          <p:nvPr/>
        </p:nvSpPr>
        <p:spPr>
          <a:xfrm>
            <a:off x="5669280" y="1170432"/>
            <a:ext cx="1508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94.5%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5669280" y="1737360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8E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7360920" y="1097280"/>
            <a:ext cx="1508760" cy="1051560"/>
          </a:xfrm>
          <a:prstGeom prst="rect">
            <a:avLst/>
          </a:prstGeom>
          <a:solidFill>
            <a:srgbClr val="1B3A24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L"/>
          </a:p>
        </p:txBody>
      </p:sp>
      <p:sp>
        <p:nvSpPr>
          <p:cNvPr id="12" name="Text 10"/>
          <p:cNvSpPr/>
          <p:nvPr/>
        </p:nvSpPr>
        <p:spPr>
          <a:xfrm>
            <a:off x="7360920" y="1170432"/>
            <a:ext cx="1508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87.3%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7360920" y="1737360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8E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669280" y="2331720"/>
            <a:ext cx="1508760" cy="1051560"/>
          </a:xfrm>
          <a:prstGeom prst="rect">
            <a:avLst/>
          </a:prstGeom>
          <a:solidFill>
            <a:srgbClr val="1B3A24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L"/>
          </a:p>
        </p:txBody>
      </p:sp>
      <p:sp>
        <p:nvSpPr>
          <p:cNvPr id="15" name="Text 13"/>
          <p:cNvSpPr/>
          <p:nvPr/>
        </p:nvSpPr>
        <p:spPr>
          <a:xfrm>
            <a:off x="5669280" y="2404872"/>
            <a:ext cx="1508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5.2 MB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5669280" y="2971800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8E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360920" y="2331720"/>
            <a:ext cx="1508760" cy="1051560"/>
          </a:xfrm>
          <a:prstGeom prst="rect">
            <a:avLst/>
          </a:prstGeom>
          <a:solidFill>
            <a:srgbClr val="1B3A24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L"/>
          </a:p>
        </p:txBody>
      </p:sp>
      <p:sp>
        <p:nvSpPr>
          <p:cNvPr id="18" name="Text 16"/>
          <p:cNvSpPr/>
          <p:nvPr/>
        </p:nvSpPr>
        <p:spPr>
          <a:xfrm>
            <a:off x="7360920" y="2404872"/>
            <a:ext cx="1508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7360920" y="2971800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8E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Clases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37033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C8E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 épocas  ·  31.940 imágenes  ·  Kaggle Tesla T4 ×2  ·  YOLO26n (Ultralytics)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57200" y="4160520"/>
            <a:ext cx="1920240" cy="530352"/>
          </a:xfrm>
          <a:prstGeom prst="rect">
            <a:avLst/>
          </a:prstGeom>
          <a:solidFill>
            <a:srgbClr val="1B3A24"/>
          </a:solidFill>
          <a:ln w="12700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22" name="Text 20"/>
          <p:cNvSpPr/>
          <p:nvPr/>
        </p:nvSpPr>
        <p:spPr>
          <a:xfrm>
            <a:off x="457200" y="4160520"/>
            <a:ext cx="1920240" cy="53035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🥑 Aguacate Hass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2514600" y="4160520"/>
            <a:ext cx="1920240" cy="530352"/>
          </a:xfrm>
          <a:prstGeom prst="rect">
            <a:avLst/>
          </a:prstGeom>
          <a:solidFill>
            <a:srgbClr val="1B3A24"/>
          </a:solidFill>
          <a:ln w="12700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24" name="Text 22"/>
          <p:cNvSpPr/>
          <p:nvPr/>
        </p:nvSpPr>
        <p:spPr>
          <a:xfrm>
            <a:off x="2514600" y="4160520"/>
            <a:ext cx="1920240" cy="53035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🍌 Plátano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4572000" y="4160520"/>
            <a:ext cx="1920240" cy="530352"/>
          </a:xfrm>
          <a:prstGeom prst="rect">
            <a:avLst/>
          </a:prstGeom>
          <a:solidFill>
            <a:srgbClr val="1B3A24"/>
          </a:solidFill>
          <a:ln w="12700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26" name="Text 24"/>
          <p:cNvSpPr/>
          <p:nvPr/>
        </p:nvSpPr>
        <p:spPr>
          <a:xfrm>
            <a:off x="4572000" y="4160520"/>
            <a:ext cx="1920240" cy="53035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🍅 Tomate Cherry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629400" y="4160520"/>
            <a:ext cx="1920240" cy="530352"/>
          </a:xfrm>
          <a:prstGeom prst="rect">
            <a:avLst/>
          </a:prstGeom>
          <a:solidFill>
            <a:srgbClr val="1B3A24"/>
          </a:solidFill>
          <a:ln w="12700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28" name="Text 26"/>
          <p:cNvSpPr/>
          <p:nvPr/>
        </p:nvSpPr>
        <p:spPr>
          <a:xfrm>
            <a:off x="6629400" y="4160520"/>
            <a:ext cx="1920240" cy="53035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🥭 Mango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B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4747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de Avance — Sprint 1 y 2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969264"/>
            <a:ext cx="1097280" cy="50292"/>
          </a:xfrm>
          <a:prstGeom prst="rect">
            <a:avLst/>
          </a:prstGeom>
          <a:solidFill>
            <a:srgbClr val="4CAF50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4069080" cy="2606040"/>
          </a:xfrm>
          <a:prstGeom prst="rect">
            <a:avLst/>
          </a:prstGeom>
          <a:solidFill>
            <a:srgbClr val="FFFFFF"/>
          </a:solidFill>
          <a:ln w="12700">
            <a:solidFill>
              <a:srgbClr val="C8E6C9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L"/>
          </a:p>
        </p:txBody>
      </p:sp>
      <p:sp>
        <p:nvSpPr>
          <p:cNvPr id="5" name="Shape 3"/>
          <p:cNvSpPr/>
          <p:nvPr/>
        </p:nvSpPr>
        <p:spPr>
          <a:xfrm>
            <a:off x="457200" y="1143000"/>
            <a:ext cx="4069080" cy="457200"/>
          </a:xfrm>
          <a:prstGeom prst="rect">
            <a:avLst/>
          </a:prstGeom>
          <a:solidFill>
            <a:srgbClr val="1B5E20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6" name="Text 4"/>
          <p:cNvSpPr/>
          <p:nvPr/>
        </p:nvSpPr>
        <p:spPr>
          <a:xfrm>
            <a:off x="548640" y="1143000"/>
            <a:ext cx="3886200" cy="45720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Backend (Sprint 1)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0080" y="173736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2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REST FastAPI — 3 endpoints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219456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2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YOLO26n + inferencia async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0080" y="265176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2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Persistencia + historial paginado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0080" y="310896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2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9/9 tests pytest pasando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846320" y="1143000"/>
            <a:ext cx="4069080" cy="2606040"/>
          </a:xfrm>
          <a:prstGeom prst="rect">
            <a:avLst/>
          </a:prstGeom>
          <a:solidFill>
            <a:srgbClr val="FFFFFF"/>
          </a:solidFill>
          <a:ln w="12700">
            <a:solidFill>
              <a:srgbClr val="C8E6C9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L"/>
          </a:p>
        </p:txBody>
      </p:sp>
      <p:sp>
        <p:nvSpPr>
          <p:cNvPr id="12" name="Shape 10"/>
          <p:cNvSpPr/>
          <p:nvPr/>
        </p:nvSpPr>
        <p:spPr>
          <a:xfrm>
            <a:off x="4846320" y="1143000"/>
            <a:ext cx="4069080" cy="457200"/>
          </a:xfrm>
          <a:prstGeom prst="rect">
            <a:avLst/>
          </a:prstGeom>
          <a:solidFill>
            <a:srgbClr val="1565C0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3" name="Text 11"/>
          <p:cNvSpPr/>
          <p:nvPr/>
        </p:nvSpPr>
        <p:spPr>
          <a:xfrm>
            <a:off x="4937760" y="1143000"/>
            <a:ext cx="3886200" cy="45720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Android (Sprint 2)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029200" y="173736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2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CameraX + galería de imágenes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029200" y="219456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2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Selector de fruta (4 opciones)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029200" y="265176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2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 offline con Room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029200" y="310896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2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MVVM + LiveData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57200" y="3886200"/>
            <a:ext cx="260604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C8E6C9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L"/>
          </a:p>
        </p:txBody>
      </p:sp>
      <p:sp>
        <p:nvSpPr>
          <p:cNvPr id="19" name="Text 17"/>
          <p:cNvSpPr/>
          <p:nvPr/>
        </p:nvSpPr>
        <p:spPr>
          <a:xfrm>
            <a:off x="457200" y="3931920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12/12</a:t>
            </a:r>
            <a:endParaRPr lang="en-US" sz="2800" dirty="0"/>
          </a:p>
        </p:txBody>
      </p:sp>
      <p:sp>
        <p:nvSpPr>
          <p:cNvPr id="20" name="Text 18"/>
          <p:cNvSpPr/>
          <p:nvPr/>
        </p:nvSpPr>
        <p:spPr>
          <a:xfrm>
            <a:off x="457200" y="4434840"/>
            <a:ext cx="2606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2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 implementados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57200" y="4663440"/>
            <a:ext cx="2606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Requerimientos funcionales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291840" y="3886200"/>
            <a:ext cx="260604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C8E6C9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L"/>
          </a:p>
        </p:txBody>
      </p:sp>
      <p:sp>
        <p:nvSpPr>
          <p:cNvPr id="23" name="Text 21"/>
          <p:cNvSpPr/>
          <p:nvPr/>
        </p:nvSpPr>
        <p:spPr>
          <a:xfrm>
            <a:off x="3291840" y="3931920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0.9229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3291840" y="4434840"/>
            <a:ext cx="2606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2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mAP@50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3291840" y="4663440"/>
            <a:ext cx="2606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≥ 0.75 superado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126480" y="3886200"/>
            <a:ext cx="260604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C8E6C9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L"/>
          </a:p>
        </p:txBody>
      </p:sp>
      <p:sp>
        <p:nvSpPr>
          <p:cNvPr id="27" name="Text 25"/>
          <p:cNvSpPr/>
          <p:nvPr/>
        </p:nvSpPr>
        <p:spPr>
          <a:xfrm>
            <a:off x="6126480" y="3931920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9/9</a:t>
            </a:r>
            <a:endParaRPr lang="en-US" sz="2800" dirty="0"/>
          </a:p>
        </p:txBody>
      </p:sp>
      <p:sp>
        <p:nvSpPr>
          <p:cNvPr id="28" name="Text 26"/>
          <p:cNvSpPr/>
          <p:nvPr/>
        </p:nvSpPr>
        <p:spPr>
          <a:xfrm>
            <a:off x="6126480" y="4434840"/>
            <a:ext cx="2606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2F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Pruebas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126480" y="4663440"/>
            <a:ext cx="2606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pytest backend — CI ✅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23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548640"/>
            <a:ext cx="91440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0" dirty="0">
                <a:solidFill>
                  <a:srgbClr val="000000"/>
                </a:solidFill>
              </a:rPr>
              <a:t>🎬</a:t>
            </a:r>
            <a:endParaRPr lang="en-US" sz="9000" dirty="0"/>
          </a:p>
        </p:txBody>
      </p:sp>
      <p:sp>
        <p:nvSpPr>
          <p:cNvPr id="3" name="Text 1"/>
          <p:cNvSpPr/>
          <p:nvPr/>
        </p:nvSpPr>
        <p:spPr>
          <a:xfrm>
            <a:off x="457200" y="256032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400" b="1" kern="0" spc="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en vivo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457200" y="36118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Escaneo de fruta  ·  Historial  ·  Tests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23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Conclusiones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96112"/>
            <a:ext cx="914400" cy="54864"/>
          </a:xfrm>
          <a:prstGeom prst="rect">
            <a:avLst/>
          </a:prstGeom>
          <a:solidFill>
            <a:srgbClr val="4CAF50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8229600" cy="1078992"/>
          </a:xfrm>
          <a:prstGeom prst="rect">
            <a:avLst/>
          </a:prstGeom>
          <a:solidFill>
            <a:srgbClr val="1B3A24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L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502920" cy="1078992"/>
          </a:xfrm>
          <a:prstGeom prst="rect">
            <a:avLst/>
          </a:prstGeom>
          <a:solidFill>
            <a:srgbClr val="4CAF50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6" name="Text 4"/>
          <p:cNvSpPr/>
          <p:nvPr/>
        </p:nvSpPr>
        <p:spPr>
          <a:xfrm>
            <a:off x="457200" y="1097280"/>
            <a:ext cx="5029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✅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051560" y="1188720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cumplido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51560" y="1572768"/>
            <a:ext cx="7498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8E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mAP@50 = 0.9229 supera el umbral de 0.75 exigido por +17.3 puntos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2359152"/>
            <a:ext cx="8229600" cy="1078992"/>
          </a:xfrm>
          <a:prstGeom prst="rect">
            <a:avLst/>
          </a:prstGeom>
          <a:solidFill>
            <a:srgbClr val="1B3A24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L"/>
          </a:p>
        </p:txBody>
      </p:sp>
      <p:sp>
        <p:nvSpPr>
          <p:cNvPr id="10" name="Shape 8"/>
          <p:cNvSpPr/>
          <p:nvPr/>
        </p:nvSpPr>
        <p:spPr>
          <a:xfrm>
            <a:off x="457200" y="2359152"/>
            <a:ext cx="502920" cy="1078992"/>
          </a:xfrm>
          <a:prstGeom prst="rect">
            <a:avLst/>
          </a:prstGeom>
          <a:solidFill>
            <a:srgbClr val="42A5F5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1" name="Text 9"/>
          <p:cNvSpPr/>
          <p:nvPr/>
        </p:nvSpPr>
        <p:spPr>
          <a:xfrm>
            <a:off x="457200" y="2359152"/>
            <a:ext cx="5029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🏗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051560" y="2450592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Arquitectura bien fundamentada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051560" y="2834640"/>
            <a:ext cx="7498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8E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4+1 de Kruchten aplicado con las 5 vistas documentadas y trazadas a casos de uso reales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57200" y="3621024"/>
            <a:ext cx="8229600" cy="1078992"/>
          </a:xfrm>
          <a:prstGeom prst="rect">
            <a:avLst/>
          </a:prstGeom>
          <a:solidFill>
            <a:srgbClr val="1B3A24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L"/>
          </a:p>
        </p:txBody>
      </p:sp>
      <p:sp>
        <p:nvSpPr>
          <p:cNvPr id="15" name="Shape 13"/>
          <p:cNvSpPr/>
          <p:nvPr/>
        </p:nvSpPr>
        <p:spPr>
          <a:xfrm>
            <a:off x="457200" y="3621024"/>
            <a:ext cx="502920" cy="1078992"/>
          </a:xfrm>
          <a:prstGeom prst="rect">
            <a:avLst/>
          </a:prstGeom>
          <a:solidFill>
            <a:srgbClr val="AB47BC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6" name="Text 14"/>
          <p:cNvSpPr/>
          <p:nvPr/>
        </p:nvSpPr>
        <p:spPr>
          <a:xfrm>
            <a:off x="457200" y="3621024"/>
            <a:ext cx="5029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🚀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1051560" y="3712464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Producto funcional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051560" y="4096512"/>
            <a:ext cx="7498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8E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12/12 requerimientos implementados, desplegado en Render con CI verde en cada commit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57200" y="475488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futuro: autenticación JWT · más frutas · tests E2E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480</Words>
  <Application>Microsoft Office PowerPoint</Application>
  <PresentationFormat>Presentación en pantalla (16:9)</PresentationFormat>
  <Paragraphs>147</Paragraphs>
  <Slides>9</Slides>
  <Notes>9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MaduraApp — Evaluación 2 TPY1101</dc:title>
  <dc:subject>PptxGenJS Presentation</dc:subject>
  <dc:creator>MaduraApp Team</dc:creator>
  <cp:lastModifiedBy>CLAUDIO VICENTE ARO KATH</cp:lastModifiedBy>
  <cp:revision>2</cp:revision>
  <dcterms:created xsi:type="dcterms:W3CDTF">2026-05-27T21:53:45Z</dcterms:created>
  <dcterms:modified xsi:type="dcterms:W3CDTF">2026-05-28T06:20:12Z</dcterms:modified>
</cp:coreProperties>
</file>