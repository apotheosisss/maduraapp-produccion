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días/tardes. Soy Claudio Aro y presento la defensa del Estado de Avance 3 de MaduraApp, un sistema de análisis de madurez de frutas con visión computacional. En los próximos 15 minutos mostraré el plan de pruebas, su aplicación a los componentes del proyecto y las mejoras que derivaron de los resultados. Saludar con seguridad y mirar al jurado.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ruta de la presentación. Primero el contexto para situar el problema, luego el corazón de esta evaluación: el plan de pruebas, su aplicación y resultados, y las mejoras que hicimos a partir de esos resultados. Cierro con conclusión y lo que queda pendiente. Mencionar que el foco de la Eval 3 es calidad y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 real: en Chile se pierde entre 20 y 40% de la fruta post-cosecha, en parte porque no hay una forma objetiva y accesible de saber el punto óptimo de consumo. MaduraApp resuelve eso con una foto: el usuario elige la fruta, toma la foto, y recibe el estado de madurez con un semáforo y una recomendación. El backend en FastAPI corre el modelo YOLO26n, que alcanza 0.92 de mAP, muy por encima del KPI de 0.75. Si preguntan por qué YOLO: es detección en tiempo real, ligero (5 MB), corre en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plan de pruebas está alineado a la problemática: cada componente crítico tiene pruebas. Lo organicé en cuatro tipos —y aquí está la diferencia que el jurado valora—: validación responde '¿construyo el sistema correcto?' (cumple los requisitos); verificación, '¿lo construyo correctamente?' (calidad, performance); seguridad, con criterios OWASP; y operacional, que funcione en su entorno. La base de datos de pruebas es SQLite en memoria, que se crea y destruye en cada corrida para aislar los tests, con fixtures que generan un usuario y un token reales. Si preguntan por qué in-memory: aislamiento, velocidad y no tocar datos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Apliqué el plan y este es el resultado: 57 de 57 pruebas en verde, ejecutadas hoy. El backend con pytest, el Android con MockK y JUnit. Además agregué integración continua: un workflow que corre la suite en cada push, así ningún cambio rompe las pruebas sin que nos enteremos. En calidad: el modelo cumple el KPI con 0.92, pesa 5.2 MB y el APK compila. Si preguntan qué detecta cada test: los de validación verifican los caminos felices y de error de cada endpoint; los de Android, que el cache offline y los estados de la UI sean correctos. Demostrar dominio: puedo abrir el reporte si lo piden.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más importante de esta evaluación: las mejoras NO son arbitrarias, salen de los resultados de las pruebas y de la auditoría OWASP. Las mapeé a los cinco estándares que pide la rúbrica. En seguridad: encontré que el secreto del token estaba hardcodeado, que el tráfico iba en claro y que el token se guardaba sin cifrar; lo corregí todo. En usabilidad rediseñé la interfaz con Material 3. En corrección, dejé la suite y el build en verde. Cada mejora tiene un commit que la respalda. Pregunta probable: '¿por qué no es cifrado de extremo a extremo como WhatsApp?' Respuesta: porque el servidor necesita leer la imagen para inferir; sería deshonesto llamarlo E2E, así que uso 'cifrado en tránsito'.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Profundizo en seguridad porque protege datos personales del usuario. Apliqué OWASP punto por punto: contraseñas con bcrypt, endpoints con JWT, HTTPS forzado para el tránsito, y el token cifrado con AES-256 en el dispositivo para el reposo. Y algo de ética: en vez de mentir diciendo 'extremo a extremo', le muestro al usuario un mensaje veraz: cifrado en tránsito. Si preguntan qué es OWASP: es el estándar de referencia de seguridad en aplicaciones; A01 es control de acceso roto, A02 fallos criptográficos, A07 fallos de autenticación.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cerrar: MaduraApp es un producto funcional, probado y seguro. 57 de 57 pruebas en verde, 15 mejoras trazables a los estándares de calidad, y datos personales protegidos. Soy honesto con lo que falta: desplegar el backend en el laboratorio AWS, automatizar las pruebas end-to-end, y obtener su aprobación del plan en esta defensa. Gracias, quedo atento a sus preguntas. Cerrar con seguridad y agradecer.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Gracias. Quedo atento a sus preguntas. Recordar: respondo con calma, si no sé algo lo reconozco y explico cómo lo averiguaría. Las preguntas pueden ser sobre el plan de pruebas, la base de datos de pruebas, OWASP, o por qué tomé cada decisión técnica.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635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MaduraApp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1">
                <a:solidFill>
                  <a:srgbClr val="E8F5E9"/>
                </a:solidFill>
                <a:latin typeface="Calibri"/>
              </a:rPr>
              <a:t>Análisis de Madurez Agrícola mediante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Defensa — Estado de Avance 3 · TPY1101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CFE8CF"/>
                </a:solidFill>
                <a:latin typeface="Calibri"/>
              </a:rPr>
              <a:t>Claudio Vicente Aro Kath · Sección 001D · Docente: José Ignacio Campos Arévalo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>
                <a:solidFill>
                  <a:srgbClr val="1A1C19"/>
                </a:solidFill>
                <a:latin typeface="Calibri"/>
              </a:rPr>
              <a:t>• Contexto general del proyecto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1A1C19"/>
                </a:solidFill>
                <a:latin typeface="Calibri"/>
              </a:rPr>
              <a:t>• Descripción del plan de pruebas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1A1C19"/>
                </a:solidFill>
                <a:latin typeface="Calibri"/>
              </a:rPr>
              <a:t>• Aplicación del plan y resultados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1A1C19"/>
                </a:solidFill>
                <a:latin typeface="Calibri"/>
              </a:rPr>
              <a:t>• Mejoras realizadas al producto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1A1C19"/>
                </a:solidFill>
                <a:latin typeface="Calibri"/>
              </a:rPr>
              <a:t>• Conclusión y trabajo pendiente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Contexto general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A1C19"/>
                </a:solidFill>
                <a:latin typeface="Calibri"/>
              </a:rPr>
              <a:t>• Problema: 20–40% de pérdidas post-cosecha en frutas climatéricas (FAO/ODEPA)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A1C19"/>
                </a:solidFill>
                <a:latin typeface="Calibri"/>
              </a:rPr>
              <a:t>• Causa raíz: falta de criterios objetivos de madurez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A1C19"/>
                </a:solidFill>
                <a:latin typeface="Calibri"/>
              </a:rPr>
              <a:t>• Solución: app móvil + IA que clasifica madurez y recomienda acción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1A1C19"/>
                </a:solidFill>
                <a:latin typeface="Calibri"/>
              </a:rPr>
              <a:t>– 4 frutas × 3 estados: Inmaduro / Óptimo / Sobre maduro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A1C19"/>
                </a:solidFill>
                <a:latin typeface="Calibri"/>
              </a:rPr>
              <a:t>• Stack: Android (Kotlin) + FastAPI + YOLO26n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1A1C19"/>
                </a:solidFill>
                <a:latin typeface="Calibri"/>
              </a:rPr>
              <a:t>– Modelo: mAP@50 = 0.9229 (KPI ≥ 0.75)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554480"/>
            <a:ext cx="3931920" cy="3840480"/>
          </a:xfrm>
          <a:prstGeom prst="rect">
            <a:avLst/>
          </a:prstGeom>
          <a:solidFill>
            <a:srgbClr val="F0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5E20"/>
                </a:solidFill>
                <a:latin typeface="Calibri"/>
              </a:rPr>
              <a:t>Flujo del usuario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A1C19"/>
                </a:solidFill>
                <a:latin typeface="Calibri"/>
              </a:rPr>
              <a:t>• Login / registro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C19"/>
                </a:solidFill>
                <a:latin typeface="Calibri"/>
              </a:rPr>
              <a:t>• Elegir fruta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C19"/>
                </a:solidFill>
                <a:latin typeface="Calibri"/>
              </a:rPr>
              <a:t>• Foto o galería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C19"/>
                </a:solidFill>
                <a:latin typeface="Calibri"/>
              </a:rPr>
              <a:t>• Diagnóstico + semáforo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C19"/>
                </a:solidFill>
                <a:latin typeface="Calibri"/>
              </a:rPr>
              <a:t>• Calificar resultado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C19"/>
                </a:solidFill>
                <a:latin typeface="Calibri"/>
              </a:rPr>
              <a:t>• Historial (offline)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Descripción del plan de pruebas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8CF"/>
                </a:solidFill>
                <a:latin typeface="Calibri"/>
              </a:rPr>
              <a:t>Criterio 1 · IL3.1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A1C19"/>
                </a:solidFill>
                <a:latin typeface="Calibri"/>
              </a:rPr>
              <a:t>• 57 casos automatizados (38 backend + 19 Android)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A1C19"/>
                </a:solidFill>
                <a:latin typeface="Calibri"/>
              </a:rPr>
              <a:t>• Clasificados en 4 tipos: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C19"/>
                </a:solidFill>
                <a:latin typeface="Calibri"/>
              </a:rPr>
              <a:t>– Validación: ¿el sistema correcto? (requisitos)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C19"/>
                </a:solidFill>
                <a:latin typeface="Calibri"/>
              </a:rPr>
              <a:t>– Verificación: ¿correctamente? (calidad/RNF)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C19"/>
                </a:solidFill>
                <a:latin typeface="Calibri"/>
              </a:rPr>
              <a:t>– Seguridad: ¿protegido? (OWASP)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C19"/>
                </a:solidFill>
                <a:latin typeface="Calibri"/>
              </a:rPr>
              <a:t>– Operacional: ¿funciona en su entorno?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A1C19"/>
                </a:solidFill>
                <a:latin typeface="Calibri"/>
              </a:rPr>
              <a:t>• Cada caso: funcionalidad · acción · esperado · obtenido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554480"/>
          <a:ext cx="5212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188720"/>
                <a:gridCol w="118872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Casos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Estado de fruta (backend)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Validación backend</a:t>
                      </a:r>
                    </a:p>
                  </a:txBody>
                  <a:tcPr>
                    <a:solidFill>
                      <a:srgbClr val="F0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0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4E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Validación Android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402336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555B52"/>
                </a:solidFill>
                <a:latin typeface="Calibri"/>
              </a:rPr>
              <a:t>Base de pruebas: SQLite in-memory + fixtures + mocks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Aplicación del plan y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8CF"/>
                </a:solidFill>
                <a:latin typeface="Calibri"/>
              </a:rPr>
              <a:t>Criterio 2 · IL3.1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6583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  <a:gridCol w="128016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Suite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Framework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Pruebas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Resultado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Backend FastAPI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pytest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✅ 38/38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Android datos</a:t>
                      </a:r>
                    </a:p>
                  </a:txBody>
                  <a:tcPr>
                    <a:solidFill>
                      <a:srgbClr val="F0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MockK</a:t>
                      </a:r>
                    </a:p>
                  </a:txBody>
                  <a:tcPr>
                    <a:solidFill>
                      <a:srgbClr val="F0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0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✅ 9/9</a:t>
                      </a:r>
                    </a:p>
                  </a:txBody>
                  <a:tcPr>
                    <a:solidFill>
                      <a:srgbClr val="F0F4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Android ViewModels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JUnit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✅ 10/10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0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F0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57</a:t>
                      </a:r>
                    </a:p>
                  </a:txBody>
                  <a:tcPr>
                    <a:solidFill>
                      <a:srgbClr val="F0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✅ 57/57</a:t>
                      </a:r>
                    </a:p>
                  </a:txBody>
                  <a:tcPr>
                    <a:solidFill>
                      <a:srgbClr val="F0F4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146304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C19"/>
                </a:solidFill>
                <a:latin typeface="Calibri"/>
              </a:rPr>
              <a:t>• 57/57 en verde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1A1C19"/>
                </a:solidFill>
                <a:latin typeface="Calibri"/>
              </a:rPr>
              <a:t>– 21 verifican estado de fruta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C19"/>
                </a:solidFill>
                <a:latin typeface="Calibri"/>
              </a:rPr>
              <a:t>• Ejecución en CI en cada push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C19"/>
                </a:solidFill>
                <a:latin typeface="Calibri"/>
              </a:rPr>
              <a:t>• Rendimiento: ~200 ms inferencia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1A1C19"/>
                </a:solidFill>
                <a:latin typeface="Calibri"/>
              </a:rPr>
              <a:t>– 0 errores hasta 50 concurrentes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C19"/>
                </a:solidFill>
                <a:latin typeface="Calibri"/>
              </a:rPr>
              <a:t>• mAP@50 = 0.9229 · 5.2 MB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Mejoras realizadas al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8CF"/>
                </a:solidFill>
                <a:latin typeface="Calibri"/>
              </a:rPr>
              <a:t>Criterio 3 · IL3.2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B52"/>
                </a:solidFill>
                <a:latin typeface="Calibri"/>
              </a:rPr>
              <a:t>15 mejoras derivadas de las pruebas y de una auditoría OWASP, por estándar de calidad: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77824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Estándar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Mejoras destacadas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Seguridad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Secreto JWT en prod, CORS acotado, política de contraseña, HTTPS forzado, token cifrado AES-256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Usabilidad</a:t>
                      </a:r>
                    </a:p>
                  </a:txBody>
                  <a:tcPr>
                    <a:solidFill>
                      <a:srgbClr val="F0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Rediseño Material 3: íconos vectoriales, modo oscuro, feedback táctil, tipografía consistente</a:t>
                      </a:r>
                    </a:p>
                  </a:txBody>
                  <a:tcPr>
                    <a:solidFill>
                      <a:srgbClr val="F0F4E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Corrección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Suite y build a verde tras integración; integración continua (CI)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Completitud</a:t>
                      </a:r>
                    </a:p>
                  </a:txBody>
                  <a:tcPr>
                    <a:solidFill>
                      <a:srgbClr val="F0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Autenticación + feedback integrados y probados end-to-end</a:t>
                      </a:r>
                    </a:p>
                  </a:txBody>
                  <a:tcPr>
                    <a:solidFill>
                      <a:srgbClr val="F0F4E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Pertinencia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C19"/>
                          </a:solidFill>
                        </a:rPr>
                        <a:t>Diagnóstico y recomendaciones ajustados al dominio agrícola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Foco: seguridad de datos personales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8CF"/>
                </a:solidFill>
                <a:latin typeface="Calibri"/>
              </a:rPr>
              <a:t>OWASP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A1C19"/>
                </a:solidFill>
                <a:latin typeface="Calibri"/>
              </a:rPr>
              <a:t>• Contraseñas hasheadas con bcrypt (nunca en texto plano)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A1C19"/>
                </a:solidFill>
                <a:latin typeface="Calibri"/>
              </a:rPr>
              <a:t>• Endpoints protegidos con JWT (A01)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A1C19"/>
                </a:solidFill>
                <a:latin typeface="Calibri"/>
              </a:rPr>
              <a:t>• Cifrado en tránsito: HTTPS forzado (A02)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A1C19"/>
                </a:solidFill>
                <a:latin typeface="Calibri"/>
              </a:rPr>
              <a:t>• Cifrado en reposo: token AES-256 en el dispositivo (M9)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A1C19"/>
                </a:solidFill>
                <a:latin typeface="Calibri"/>
              </a:rPr>
              <a:t>• Política de contraseña: 8+ con letra y número (A07)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A1C19"/>
                </a:solidFill>
                <a:latin typeface="Calibri"/>
              </a:rPr>
              <a:t>• Secreto JWT obligatorio en producción (A05)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554480"/>
            <a:ext cx="3931920" cy="2011680"/>
          </a:xfrm>
          <a:prstGeom prst="rect">
            <a:avLst/>
          </a:prstGeom>
          <a:solidFill>
            <a:srgbClr val="F0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91640"/>
            <a:ext cx="35661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B5E20"/>
                </a:solidFill>
                <a:latin typeface="Calibri"/>
              </a:rPr>
              <a:t>Mensaje honesto al usuario:
«Tus datos viajan cifrados (HTTPS) y tu contraseña se guarda protegida»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Conclusión y trabajo pendiente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A1C19"/>
                </a:solidFill>
                <a:latin typeface="Calibri"/>
              </a:rPr>
              <a:t>• Producto funcional, probado y seguro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C19"/>
                </a:solidFill>
                <a:latin typeface="Calibri"/>
              </a:rPr>
              <a:t>– 57/57 pruebas en verde en todos los componentes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C19"/>
                </a:solidFill>
                <a:latin typeface="Calibri"/>
              </a:rPr>
              <a:t>– 15 mejoras trazables a los 5 estándares de calidad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C19"/>
                </a:solidFill>
                <a:latin typeface="Calibri"/>
              </a:rPr>
              <a:t>– Datos personales protegidos (cifrado + hashing + JWT)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A1C19"/>
                </a:solidFill>
                <a:latin typeface="Calibri"/>
              </a:rPr>
              <a:t>• Pendiente honesto: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C19"/>
                </a:solidFill>
                <a:latin typeface="Calibri"/>
              </a:rPr>
              <a:t>– Desplegar backend en AWS Lab del docente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C19"/>
                </a:solidFill>
                <a:latin typeface="Calibri"/>
              </a:rPr>
              <a:t>– Pruebas E2E automatizadas (Espresso)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C19"/>
                </a:solidFill>
                <a:latin typeface="Calibri"/>
              </a:rPr>
              <a:t>– Aprobación del plan en esta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554480"/>
            <a:ext cx="3931920" cy="3291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56616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57/57
pruebas en verde
mAP@50 = 0.9229
15 mejoras
verificadas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635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CFE8CF"/>
                </a:solidFill>
                <a:latin typeface="Calibri"/>
              </a:rPr>
              <a:t>MaduraApp · Claudio Vicente Aro Kath · TPY1101 — Sección 001D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