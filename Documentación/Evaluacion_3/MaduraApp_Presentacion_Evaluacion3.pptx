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A24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F2A24"/>
                </a:solidFill>
                <a:latin typeface="Arial"/>
              </a:rPr>
              <a:t>GET /v1/health — latencia p95 por carga concurrente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p95 latencia (ms)</c:v>
                </c:pt>
              </c:strCache>
            </c:strRef>
          </c:tx>
          <c:spPr>
            <a:solidFill>
              <a:srgbClr val="2D6A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A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5 usuarios</c:v>
                  </c:pt>
                  <c:pt idx="1">
                    <c:v>10 usuarios</c:v>
                  </c:pt>
                  <c:pt idx="2">
                    <c:v>20 usuarios</c:v>
                  </c:pt>
                  <c:pt idx="3">
                    <c:v>50 usuarios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429.9</c:v>
                </c:pt>
                <c:pt idx="1">
                  <c:v>515.6</c:v>
                </c:pt>
                <c:pt idx="2">
                  <c:v>1046</c:v>
                </c:pt>
                <c:pt idx="3">
                  <c:v>1706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A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1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5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2.png"/><Relationship Id="rId4" Type="http://schemas.openxmlformats.org/officeDocument/2006/relationships/image" Target="../media/image-18-2.png"/><Relationship Id="rId5" Type="http://schemas.openxmlformats.org/officeDocument/2006/relationships/image" Target="../media/image-18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926080"/>
            <a:ext cx="6858000" cy="6858000"/>
          </a:xfrm>
          <a:prstGeom prst="ellipse">
            <a:avLst/>
          </a:prstGeom>
          <a:solidFill>
            <a:srgbClr val="142E24"/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06240"/>
            <a:ext cx="5486400" cy="5486400"/>
          </a:xfrm>
          <a:prstGeom prst="ellipse">
            <a:avLst/>
          </a:prstGeom>
          <a:solidFill>
            <a:srgbClr val="2D6A4F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173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9B4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FINAL TRANSVERSAL · TPY1101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MaduraApp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de madurez de frutas climatéricas con visión computacional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160520"/>
            <a:ext cx="6126480" cy="1417320"/>
          </a:xfrm>
          <a:prstGeom prst="roundRect">
            <a:avLst>
              <a:gd name="adj" fmla="val 5161"/>
            </a:avLst>
          </a:prstGeom>
          <a:solidFill>
            <a:srgbClr val="142E2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434340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Vicente Aro Kath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22.022.498-8  ·  Sección 001D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Aplicado de Programación · DuocUC ·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378440" y="731520"/>
            <a:ext cx="640080" cy="640080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10" name="Image 0" descr="C:\Users\molte\AppData\Local\Temp\claude\C--Users-molte-Documents-Proyectos-MaduraApp\b52abfea-8927-4ac6-80c8-c401127990a1\scratchpad\ppt_build\icons\lea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1650" y="814730"/>
            <a:ext cx="473659" cy="4736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" name="Image 0" descr="C:\Users\molte\AppData\Local\Temp\claude\C--Users-molte-Documents-Proyectos-MaduraApp\b52abfea-8927-4ac6-80c8-c401127990a1\scratchpad\ppt_build\icons\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62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vamos a ver hoy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5074920" cy="868680"/>
          </a:xfrm>
          <a:prstGeom prst="roundRect">
            <a:avLst>
              <a:gd name="adj" fmla="val 9474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85800" y="1778508"/>
            <a:ext cx="512064" cy="512064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8" name="Image 1" descr="C:\Users\molte\AppData\Local\Temp\claude\C--Users-molte-Documents-Proyectos-MaduraApp\b52abfea-8927-4ac6-80c8-c401127990a1\scratchpad\ppt_build\icons\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68" y="1845076"/>
            <a:ext cx="378927" cy="37892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16550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1371600" y="160020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Contexto, cliente y problemática (Ishikawa)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2920" y="2651760"/>
            <a:ext cx="5074920" cy="868680"/>
          </a:xfrm>
          <a:prstGeom prst="roundRect">
            <a:avLst>
              <a:gd name="adj" fmla="val 9474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85800" y="2830068"/>
            <a:ext cx="512064" cy="512064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13" name="Image 2" descr="C:\Users\molte\AppData\Local\Temp\claude\C--Users-molte-Documents-Proyectos-MaduraApp\b52abfea-8927-4ac6-80c8-c401127990a1\scratchpad\ppt_build\icons\bullsey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368" y="2896636"/>
            <a:ext cx="378927" cy="37892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5800" y="27066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1371600" y="265176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SMART y metodología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02920" y="3703320"/>
            <a:ext cx="5074920" cy="868680"/>
          </a:xfrm>
          <a:prstGeom prst="roundRect">
            <a:avLst>
              <a:gd name="adj" fmla="val 9474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85800" y="3881628"/>
            <a:ext cx="512064" cy="512064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18" name="Image 3" descr="C:\Users\molte\AppData\Local\Temp\claude\C--Users-molte-Documents-Proyectos-MaduraApp\b52abfea-8927-4ac6-80c8-c401127990a1\scratchpad\ppt_build\icons\calend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368" y="3948196"/>
            <a:ext cx="378927" cy="378927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85800" y="37581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1371600" y="370332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Alcance, planificación y Carta Gantt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02920" y="4754880"/>
            <a:ext cx="5074920" cy="868680"/>
          </a:xfrm>
          <a:prstGeom prst="roundRect">
            <a:avLst>
              <a:gd name="adj" fmla="val 9474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85800" y="4933188"/>
            <a:ext cx="512064" cy="512064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23" name="Image 4" descr="C:\Users\molte\AppData\Local\Temp\claude\C--Users-molte-Documents-Proyectos-MaduraApp\b52abfea-8927-4ac6-80c8-c401127990a1\scratchpad\ppt_build\icons\clou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368" y="4999756"/>
            <a:ext cx="378927" cy="378927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85800" y="48097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1371600" y="475488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diseño del sistema y tecnologías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5943600" y="1600200"/>
            <a:ext cx="5074920" cy="868680"/>
          </a:xfrm>
          <a:prstGeom prst="roundRect">
            <a:avLst>
              <a:gd name="adj" fmla="val 9474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126480" y="1778508"/>
            <a:ext cx="512064" cy="512064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28" name="Image 5" descr="C:\Users\molte\AppData\Local\Temp\claude\C--Users-molte-Documents-Proyectos-MaduraApp\b52abfea-8927-4ac6-80c8-c401127990a1\scratchpad\ppt_build\icons\pl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3048" y="1845076"/>
            <a:ext cx="378927" cy="378927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126480" y="16550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6812280" y="160020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 (5 min)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5943600" y="2651760"/>
            <a:ext cx="5074920" cy="868680"/>
          </a:xfrm>
          <a:prstGeom prst="roundRect">
            <a:avLst>
              <a:gd name="adj" fmla="val 9474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6126480" y="2830068"/>
            <a:ext cx="512064" cy="512064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3" name="Image 6" descr="C:\Users\molte\AppData\Local\Temp\claude\C--Users-molte-Documents-Proyectos-MaduraApp\b52abfea-8927-4ac6-80c8-c401127990a1\scratchpad\ppt_build\icons\flas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3048" y="2896636"/>
            <a:ext cx="378927" cy="378927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6126480" y="27066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5" name="Text 26"/>
          <p:cNvSpPr/>
          <p:nvPr/>
        </p:nvSpPr>
        <p:spPr>
          <a:xfrm>
            <a:off x="6812280" y="265176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pruebas, resultados y rendimiento</a:t>
            </a:r>
            <a:endParaRPr lang="en-US" sz="1400" dirty="0"/>
          </a:p>
        </p:txBody>
      </p:sp>
      <p:sp>
        <p:nvSpPr>
          <p:cNvPr id="36" name="Shape 27"/>
          <p:cNvSpPr/>
          <p:nvPr/>
        </p:nvSpPr>
        <p:spPr>
          <a:xfrm>
            <a:off x="5943600" y="3703320"/>
            <a:ext cx="5074920" cy="868680"/>
          </a:xfrm>
          <a:prstGeom prst="roundRect">
            <a:avLst>
              <a:gd name="adj" fmla="val 9474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37" name="Shape 28"/>
          <p:cNvSpPr/>
          <p:nvPr/>
        </p:nvSpPr>
        <p:spPr>
          <a:xfrm>
            <a:off x="6126480" y="3881628"/>
            <a:ext cx="512064" cy="512064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8" name="Image 7" descr="C:\Users\molte\AppData\Local\Temp\claude\C--Users-molte-Documents-Proyectos-MaduraApp\b52abfea-8927-4ac6-80c8-c401127990a1\scratchpad\ppt_build\icons\tool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3048" y="3948196"/>
            <a:ext cx="378927" cy="378927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6126480" y="37581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40" name="Text 30"/>
          <p:cNvSpPr/>
          <p:nvPr/>
        </p:nvSpPr>
        <p:spPr>
          <a:xfrm>
            <a:off x="6812280" y="370332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aplicadas al producto</a:t>
            </a:r>
            <a:endParaRPr lang="en-US" sz="1400" dirty="0"/>
          </a:p>
        </p:txBody>
      </p:sp>
      <p:sp>
        <p:nvSpPr>
          <p:cNvPr id="41" name="Shape 31"/>
          <p:cNvSpPr/>
          <p:nvPr/>
        </p:nvSpPr>
        <p:spPr>
          <a:xfrm>
            <a:off x="5943600" y="4754880"/>
            <a:ext cx="5074920" cy="868680"/>
          </a:xfrm>
          <a:prstGeom prst="roundRect">
            <a:avLst>
              <a:gd name="adj" fmla="val 9474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42" name="Shape 32"/>
          <p:cNvSpPr/>
          <p:nvPr/>
        </p:nvSpPr>
        <p:spPr>
          <a:xfrm>
            <a:off x="6126480" y="4933188"/>
            <a:ext cx="512064" cy="512064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43" name="Image 8" descr="C:\Users\molte\AppData\Local\Temp\claude\C--Users-molte-Documents-Proyectos-MaduraApp\b52abfea-8927-4ac6-80c8-c401127990a1\scratchpad\ppt_build\icons\lightbulb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3048" y="4999756"/>
            <a:ext cx="378927" cy="378927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6126480" y="48097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6812280" y="475488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Aprendizajes y conclusión</a:t>
            </a:r>
            <a:endParaRPr lang="en-US" sz="1400" dirty="0"/>
          </a:p>
        </p:txBody>
      </p:sp>
      <p:sp>
        <p:nvSpPr>
          <p:cNvPr id="46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 · TPY1101 · Evaluación Final Transversal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" name="Image 0" descr="C:\Users\molte\AppData\Local\Temp\claude\C--Users-molte-Documents-Proyectos-MaduraApp\b52abfea-8927-4ac6-80c8-c401127990a1\scratchpad\ppt_build\icons\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62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PROYECTO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 y proceso de negocio afectado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6309360" cy="4434840"/>
          </a:xfrm>
          <a:prstGeom prst="roundRect">
            <a:avLst>
              <a:gd name="adj" fmla="val 2062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18288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objetivo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77240" y="221284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Consumidores finales, ferias libres y pequeños productores de frutas climatéricas en Chile.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29260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de negocio afectado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77240" y="3310128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«Decisión de consumo o procesamiento de la fruta»: hoy se toma de forma subjetiva (vista y tacto), sin criterio objetivo — se desecha fruta aún apta o se consume fuera de su punto óptimo.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" y="44348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de MaduraApp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77240" y="4818888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~1 segundo desde un smartphone entrega un diagnóstico objetivo (92% de precisión) con recomendación de acción por fruta.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086600" y="1600200"/>
            <a:ext cx="4617720" cy="1325880"/>
          </a:xfrm>
          <a:prstGeom prst="roundRect">
            <a:avLst>
              <a:gd name="adj" fmla="val 6897"/>
            </a:avLst>
          </a:prstGeom>
          <a:solidFill>
            <a:srgbClr val="1B433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15200" y="17099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B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20-40%</a:t>
            </a:r>
            <a:endParaRPr lang="en-US" sz="4000" dirty="0"/>
          </a:p>
        </p:txBody>
      </p:sp>
      <p:sp>
        <p:nvSpPr>
          <p:cNvPr id="15" name="Text 12"/>
          <p:cNvSpPr/>
          <p:nvPr/>
        </p:nvSpPr>
        <p:spPr>
          <a:xfrm>
            <a:off x="7315200" y="244144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pérdidas post-cosecha en frutas climatéricas (FAO/ODEPA)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086600" y="3136392"/>
            <a:ext cx="4617720" cy="1325880"/>
          </a:xfrm>
          <a:prstGeom prst="roundRect">
            <a:avLst>
              <a:gd name="adj" fmla="val 6897"/>
            </a:avLst>
          </a:prstGeom>
          <a:solidFill>
            <a:srgbClr val="1B433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315200" y="3246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B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x 3</a:t>
            </a:r>
            <a:endParaRPr lang="en-US" sz="4000" dirty="0"/>
          </a:p>
        </p:txBody>
      </p:sp>
      <p:sp>
        <p:nvSpPr>
          <p:cNvPr id="18" name="Text 15"/>
          <p:cNvSpPr/>
          <p:nvPr/>
        </p:nvSpPr>
        <p:spPr>
          <a:xfrm>
            <a:off x="7315200" y="3977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frutas soportadas × estados de madurez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086600" y="4672584"/>
            <a:ext cx="4617720" cy="1325880"/>
          </a:xfrm>
          <a:prstGeom prst="roundRect">
            <a:avLst>
              <a:gd name="adj" fmla="val 6897"/>
            </a:avLst>
          </a:prstGeom>
          <a:solidFill>
            <a:srgbClr val="1B433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7315200" y="478231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B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 seg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7315200" y="551383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la captura hasta el diagnóstico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 · TPY1101 · Evaluación Final Transversal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" name="Image 0" descr="C:\Users\molte\AppData\Local\Temp\claude\C--Users-molte-Documents-Proyectos-MaduraApp\b52abfea-8927-4ac6-80c8-c401127990a1\scratchpad\ppt_build\icons\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62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PROBLEMÁTICA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 causa-efecto (Ishikawa)</a:t>
            </a:r>
            <a:endParaRPr lang="en-US" sz="3000" dirty="0"/>
          </a:p>
        </p:txBody>
      </p:sp>
      <p:pic>
        <p:nvPicPr>
          <p:cNvPr id="6" name="Image 1" descr="C:\Users\molte\Documents\Proyectos\MaduraApp-Produccion\Documentación\Ishikaw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1554480"/>
            <a:ext cx="11155680" cy="47091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 · TPY1101 · Evaluación Final Transversal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" name="Image 0" descr="C:\Users\molte\AppData\Local\Temp\claude\C--Users-molte-Documents-Proyectos-MaduraApp\b52abfea-8927-4ac6-80c8-c401127990a1\scratchpad\ppt_build\icons\bulls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62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general y objetivos específicos (SMART)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554480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1B4332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1609344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y validar un sistema de visión computacional (app Android + API + IA) que clasifique el estado de madurez de 4 frutas climatéricas en 3 categorías, con diagnóstico y recomendación en tiempo real, con calidad y seguridad de nivel productivo.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514600"/>
          <a:ext cx="11155680" cy="3749040"/>
        </p:xfrm>
        <a:graphic>
          <a:graphicData uri="http://schemas.openxmlformats.org/drawingml/2006/table">
            <a:tbl>
              <a:tblPr/>
              <a:tblGrid>
                <a:gridCol w="1051560"/>
                <a:gridCol w="3657600"/>
                <a:gridCol w="3703320"/>
                <a:gridCol w="2743200"/>
              </a:tblGrid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 específico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(SMART)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OE-01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Precisión del modelo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mAP@50 ≥ 0,75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0,9229 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OE-02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Rendimiento temporal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Inferencia &lt; 400 ms p95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~200 ms 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OE-03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 y cobertura de pruebas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57 casos, cobertura ≥ 75%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57/57 · 76% 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OE-04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Estabilidad bajo carga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errores @ 50 concurrentes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errores 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OE-05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Eficiencia del modelo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 &lt; 10 MB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 MB 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OE-06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de datos personales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hallazgos críticos OWASP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Cumplido 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 · TPY1101 · Evaluación Final Transversal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" name="Image 0" descr="C:\Users\molte\AppData\Local\Temp\claude\C--Users-molte-Documents-Proyectos-MaduraApp\b52abfea-8927-4ac6-80c8-c401127990a1\scratchpad\ppt_build\icons\co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62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híbrida y ciclo de vida iterativo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3630168" cy="3246120"/>
          </a:xfrm>
          <a:prstGeom prst="roundRect">
            <a:avLst>
              <a:gd name="adj" fmla="val 2817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828800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8" name="Image 1" descr="C:\Users\molte\AppData\Local\Temp\claude\C--Users-molte-Documents-Proyectos-MaduraApp\b52abfea-8927-4ac6-80c8-c401127990a1\scratchpad\ppt_build\icons\fla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221" y="1902501"/>
            <a:ext cx="419527" cy="41952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DE DATOS E IA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731520" y="2743200"/>
            <a:ext cx="3172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CRISP-DM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731520" y="3200400"/>
            <a:ext cx="3172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Comprensión del negocio → recolección/etiquetado → entrenamiento YOLO26n → evaluación (mAP) → ajuste fino. Aplica al pipeline de modelo, con recursos y plazos acotados a GPU gratuita (Colab/Kaggle).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274820" y="1600200"/>
            <a:ext cx="3630168" cy="3246120"/>
          </a:xfrm>
          <a:prstGeom prst="roundRect">
            <a:avLst>
              <a:gd name="adj" fmla="val 2817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03420" y="1828800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14" name="Image 2" descr="C:\Users\molte\AppData\Local\Temp\claude\C--Users-molte-Documents-Proyectos-MaduraApp\b52abfea-8927-4ac6-80c8-c401127990a1\scratchpad\ppt_build\icons\co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121" y="1902501"/>
            <a:ext cx="419527" cy="419527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03420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DE SOFTWARE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4503420" y="2743200"/>
            <a:ext cx="3172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Scrum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503420" y="3200400"/>
            <a:ext cx="3172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cortos por componente: API base, integración del modelo, app Android (CameraX), historial + auth. Backlog priorizado por valor para el cliente.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046720" y="1600200"/>
            <a:ext cx="3630168" cy="3246120"/>
          </a:xfrm>
          <a:prstGeom prst="roundRect">
            <a:avLst>
              <a:gd name="adj" fmla="val 2817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275320" y="1828800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20" name="Image 3" descr="C:\Users\molte\AppData\Local\Temp\claude\C--Users-molte-Documents-Proyectos-MaduraApp\b52abfea-8927-4ac6-80c8-c401127990a1\scratchpad\ppt_build\icons\calend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9021" y="1902501"/>
            <a:ext cx="419527" cy="419527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275320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VIDA DEL PROYECTO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8275320" y="2743200"/>
            <a:ext cx="3172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Iterativo-incremental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8275320" y="3200400"/>
            <a:ext cx="3172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iteraciones alineadas a evaluaciones parciales (EP1 definición, EP2 producto, EP3 calidad), cada una con entrega funcional evaluable.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502920" y="5029200"/>
            <a:ext cx="11155680" cy="1051560"/>
          </a:xfrm>
          <a:prstGeom prst="roundRect">
            <a:avLst>
              <a:gd name="adj" fmla="val 7826"/>
            </a:avLst>
          </a:prstGeom>
          <a:solidFill>
            <a:srgbClr val="1B4332"/>
          </a:solidFill>
          <a:ln/>
        </p:spPr>
      </p:sp>
      <p:sp>
        <p:nvSpPr>
          <p:cNvPr id="25" name="Text 19"/>
          <p:cNvSpPr/>
          <p:nvPr/>
        </p:nvSpPr>
        <p:spPr>
          <a:xfrm>
            <a:off x="777240" y="510235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9B4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de arquitectura:  </a:t>
            </a:r>
            <a:pPr indent="0" marL="0">
              <a:buNone/>
            </a:pPr>
            <a:r>
              <a:rPr lang="en-US" sz="1250" dirty="0">
                <a:solidFill>
                  <a:srgbClr val="E7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MVVM en Android (ViewModel + LiveData + Repository) y arquitectura en capas en el backend (routers → services → schemas → models), coherentes con un equipo pequeño, plazos acotados por evaluación y una API REST bien delimitada.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 · TPY1101 · Evaluación Final Transversal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" name="Image 0" descr="C:\Users\molte\AppData\Local\Temp\claude\C--Users-molte-Documents-Proyectos-MaduraApp\b52abfea-8927-4ac6-80c8-c401127990a1\scratchpad\ppt_build\icons\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62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DEL PROYECTO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Entregables, supuestos y restricciones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0292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técnico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02920" y="192024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Diseño, desarrollo, pruebas y despliegue de una app Android nativa (Kotlin + CameraX), una API REST (FastAPI async) y un modelo YOLO26n entrenado para 4 frutas × 3 estados de madurez.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02920" y="2971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Entregables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02920" y="3337560"/>
            <a:ext cx="5669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fuente versionado (app + backend)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entrenado (mAP@50 = 0,92)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de 57 pruebas automatizadas + cobertura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(arquitectura, pruebas, ambientes, backup)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CI y despliegue en AWS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537960" y="1554480"/>
            <a:ext cx="5120640" cy="2331720"/>
          </a:xfrm>
          <a:prstGeom prst="roundRect">
            <a:avLst>
              <a:gd name="adj" fmla="val 3922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81228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812280" y="2103120"/>
            <a:ext cx="4617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Créditos del AWS Academy Learner Lab disponibles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con smartphone Android (API 29+), cámara e internet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Imágenes de una de las 4 frutas soportadas, con iluminación razonable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537960" y="4069080"/>
            <a:ext cx="5120640" cy="1965960"/>
          </a:xfrm>
          <a:prstGeom prst="roundRect">
            <a:avLst>
              <a:gd name="adj" fmla="val 4651"/>
            </a:avLst>
          </a:prstGeom>
          <a:solidFill>
            <a:srgbClr val="1B433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812280" y="4251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B4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812280" y="4617720"/>
            <a:ext cx="4617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7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Temporal: acotado al calendario de la asignatura (3 EP)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7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Academy Learner Lab: sesiones efímeras, sin GPU, IAM restringido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7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del modelo limitado a 4 frutas y 3 estados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 · TPY1101 · Evaluación Final Transversal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" name="Image 0" descr="C:\Users\molte\AppData\Local\Temp\claude\C--Users-molte-Documents-Proyectos-MaduraApp\b52abfea-8927-4ac6-80c8-c401127990a1\scratchpad\ppt_build\icons\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62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Carta Gantt: proyectada vs. real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536192"/>
            <a:ext cx="5486400" cy="365760"/>
          </a:xfrm>
          <a:prstGeom prst="roundRect">
            <a:avLst>
              <a:gd name="adj" fmla="val 15000"/>
            </a:avLst>
          </a:prstGeom>
          <a:solidFill>
            <a:srgbClr val="F1F5F2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53619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PROYECTADA — corte intermedio (mayo, semana 10)</a:t>
            </a:r>
            <a:endParaRPr lang="en-US" sz="1150" dirty="0"/>
          </a:p>
        </p:txBody>
      </p:sp>
      <p:pic>
        <p:nvPicPr>
          <p:cNvPr id="8" name="Image 1" descr="C:\Users\molte\Documents\Proyectos\MaduraApp-Produccion\Documentación\Gantt_MaduraApp_v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1993392"/>
            <a:ext cx="5486400" cy="4160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172200" y="1536192"/>
            <a:ext cx="5486400" cy="365760"/>
          </a:xfrm>
          <a:prstGeom prst="roundRect">
            <a:avLst>
              <a:gd name="adj" fmla="val 15000"/>
            </a:avLst>
          </a:prstGeom>
          <a:solidFill>
            <a:srgbClr val="1B4332"/>
          </a:solidFill>
          <a:ln/>
        </p:spPr>
      </p:sp>
      <p:sp>
        <p:nvSpPr>
          <p:cNvPr id="10" name="Text 6"/>
          <p:cNvSpPr/>
          <p:nvPr/>
        </p:nvSpPr>
        <p:spPr>
          <a:xfrm>
            <a:off x="6263640" y="153619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B4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— ejecutada al cierre (EP1 → EP2 → EP3)</a:t>
            </a:r>
            <a:endParaRPr lang="en-US" sz="1150" dirty="0"/>
          </a:p>
        </p:txBody>
      </p:sp>
      <p:pic>
        <p:nvPicPr>
          <p:cNvPr id="11" name="Image 2" descr="C:\Users\molte\Documents\Proyectos\MaduraApp-Produccion\Documentación\diagramas\Gantt_MaduraApp_v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72200" y="1993392"/>
            <a:ext cx="5486400" cy="41605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 · TPY1101 · Evaluación Final Transversal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" name="Image 0" descr="C:\Users\molte\AppData\Local\Temp\claude\C--Users-molte-Documents-Proyectos-MaduraApp\b52abfea-8927-4ac6-80c8-c401127990a1\scratchpad\ppt_build\icons\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62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TECNOLÓGICA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Diagrama de despliegue y justificación cloud (AWS)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91640"/>
            <a:ext cx="2286000" cy="914400"/>
          </a:xfrm>
          <a:prstGeom prst="roundRect">
            <a:avLst>
              <a:gd name="adj" fmla="val 9000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67512" y="1865376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8" name="Image 1" descr="C:\Users\molte\AppData\Local\Temp\claude\C--Users-molte-Documents-Proyectos-MaduraApp\b52abfea-8927-4ac6-80c8-c401127990a1\scratchpad\ppt_build\icons\mob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213" y="1939077"/>
            <a:ext cx="419527" cy="41952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25880" y="169164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· CameraX · Room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3246120" y="1691640"/>
            <a:ext cx="2651760" cy="914400"/>
          </a:xfrm>
          <a:prstGeom prst="roundRect">
            <a:avLst>
              <a:gd name="adj" fmla="val 9000"/>
            </a:avLst>
          </a:prstGeom>
          <a:solidFill>
            <a:srgbClr val="1B433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410712" y="1865376"/>
            <a:ext cx="566928" cy="566928"/>
          </a:xfrm>
          <a:prstGeom prst="ellipse">
            <a:avLst/>
          </a:prstGeom>
          <a:solidFill>
            <a:srgbClr val="E9B44C"/>
          </a:solidFill>
          <a:ln/>
        </p:spPr>
      </p:sp>
      <p:pic>
        <p:nvPicPr>
          <p:cNvPr id="12" name="Image 2" descr="C:\Users\molte\AppData\Local\Temp\claude\C--Users-molte-Documents-Proyectos-MaduraApp\b52abfea-8927-4ac6-80c8-c401127990a1\scratchpad\ppt_build\icons\ser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4413" y="1939077"/>
            <a:ext cx="419527" cy="41952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069080" y="169164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 (Docker)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YOLO26n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6355080" y="1691640"/>
            <a:ext cx="2468880" cy="914400"/>
          </a:xfrm>
          <a:prstGeom prst="roundRect">
            <a:avLst>
              <a:gd name="adj" fmla="val 9000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6519672" y="1865376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16" name="Image 3" descr="C:\Users\molte\AppData\Local\Temp\claude\C--Users-molte-Documents-Proyectos-MaduraApp\b52abfea-8927-4ac6-80c8-c401127990a1\scratchpad\ppt_build\icons\databa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3373" y="1939077"/>
            <a:ext cx="419527" cy="419527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178040" y="16916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RDS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1150" dirty="0"/>
          </a:p>
        </p:txBody>
      </p:sp>
      <p:sp>
        <p:nvSpPr>
          <p:cNvPr id="18" name="Text 12"/>
          <p:cNvSpPr/>
          <p:nvPr/>
        </p:nvSpPr>
        <p:spPr>
          <a:xfrm>
            <a:off x="2743200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1000" dirty="0"/>
          </a:p>
        </p:txBody>
      </p:sp>
      <p:pic>
        <p:nvPicPr>
          <p:cNvPr id="19" name="Image 4" descr="C:\Users\molte\AppData\Local\Temp\claude\C--Users-molte-Documents-Proyectos-MaduraApp\b52abfea-8927-4ac6-80c8-c401127990a1\scratchpad\ppt_build\icons\arrowr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8920" y="2258568"/>
            <a:ext cx="384048" cy="27432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806440" y="1965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asyncpg</a:t>
            </a:r>
            <a:endParaRPr lang="en-US" sz="1000" dirty="0"/>
          </a:p>
        </p:txBody>
      </p:sp>
      <p:pic>
        <p:nvPicPr>
          <p:cNvPr id="21" name="Image 5" descr="C:\Users\molte\AppData\Local\Temp\claude\C--Users-molte-Documents-Proyectos-MaduraApp\b52abfea-8927-4ac6-80c8-c401127990a1\scratchpad\ppt_build\icons\arrowrigh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0448" y="2258568"/>
            <a:ext cx="384048" cy="2743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006840" y="1691640"/>
            <a:ext cx="2651760" cy="914400"/>
          </a:xfrm>
          <a:prstGeom prst="roundRect">
            <a:avLst>
              <a:gd name="adj" fmla="val 9000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9171432" y="1865376"/>
            <a:ext cx="566928" cy="566928"/>
          </a:xfrm>
          <a:prstGeom prst="ellipse">
            <a:avLst/>
          </a:prstGeom>
          <a:solidFill>
            <a:srgbClr val="BF6B5A"/>
          </a:solidFill>
          <a:ln/>
        </p:spPr>
      </p:sp>
      <p:pic>
        <p:nvPicPr>
          <p:cNvPr id="24" name="Image 6" descr="C:\Users\molte\AppData\Local\Temp\claude\C--Users-molte-Documents-Proyectos-MaduraApp\b52abfea-8927-4ac6-80c8-c401127990a1\scratchpad\ppt_build\icons\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45133" y="1939077"/>
            <a:ext cx="419527" cy="419527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829800" y="169164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en cada push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880360"/>
          <a:ext cx="11155680" cy="3246120"/>
        </p:xfrm>
        <a:graphic>
          <a:graphicData uri="http://schemas.openxmlformats.org/drawingml/2006/table">
            <a:tbl>
              <a:tblPr/>
              <a:tblGrid>
                <a:gridCol w="1188720"/>
                <a:gridCol w="2651760"/>
                <a:gridCol w="7315200"/>
              </a:tblGrid>
              <a:tr h="8115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 AWS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</a:tr>
              <a:tr h="8115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 t3.small (Docker)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AWS Academy Learner Lab no habilita PaaS con roles personalizados; EC2 da control total del contenedor.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115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DBaaS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— PostgreSQL 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de datos gestionada: parches, respaldos automáticos y disponibilidad administrados por AWS.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115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sin administrar infraestructura: ejecuta la suite de pruebas en cada push.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 · TPY1101 · Evaluación Final Transversal</a:t>
            </a:r>
            <a:endParaRPr lang="en-US" sz="900" dirty="0"/>
          </a:p>
        </p:txBody>
      </p:sp>
      <p:sp>
        <p:nvSpPr>
          <p:cNvPr id="28" name="Text 18"/>
          <p:cNvSpPr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" name="Image 0" descr="C:\Users\molte\AppData\Local\Temp\claude\C--Users-molte-Documents-Proyectos-MaduraApp\b52abfea-8927-4ac6-80c8-c401127990a1\scratchpad\ppt_build\icons\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62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DEL SISTEMA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4+1 de Kruchten — diagramas a grandes rasgos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4592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pic>
        <p:nvPicPr>
          <p:cNvPr id="7" name="Image 1" descr="C:\Users\molte\Documents\Proyectos\MaduraApp-Produccion\Documentación\MaduraApp_DiagramaCasosDeUs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1783080"/>
            <a:ext cx="3337560" cy="35204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4360" y="534924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escenarios · Casos de uso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4270248" y="164592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pic>
        <p:nvPicPr>
          <p:cNvPr id="10" name="Image 2" descr="C:\Users\molte\Documents\Proyectos\MaduraApp-Produccion\Documentación\MaduraApp_DiagramaClases_v2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407408" y="1783080"/>
            <a:ext cx="3337560" cy="35204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361688" y="534924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lógica · Diagrama de clases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8037576" y="164592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pic>
        <p:nvPicPr>
          <p:cNvPr id="13" name="Image 3" descr="C:\Users\molte\Documents\Proyectos\MaduraApp-Produccion\Documentación\MaduraApp_MER_v2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174736" y="1783080"/>
            <a:ext cx="3337560" cy="352044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129016" y="534924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datos · Modelo entidad-relación</a:t>
            </a:r>
            <a:endParaRPr lang="en-US" sz="1150" dirty="0"/>
          </a:p>
        </p:txBody>
      </p:sp>
      <p:sp>
        <p:nvSpPr>
          <p:cNvPr id="15" name="Text 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 · TPY1101 · Evaluación Final Transversal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" name="Image 0" descr="C:\Users\molte\AppData\Local\Temp\claude\C--Users-molte-Documents-Proyectos-MaduraApp\b52abfea-8927-4ac6-80c8-c401127990a1\scratchpad\ppt_build\icons\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62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Tecnologías utilizadas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55680" cy="4663440"/>
        </p:xfrm>
        <a:graphic>
          <a:graphicData uri="http://schemas.openxmlformats.org/drawingml/2006/table">
            <a:tbl>
              <a:tblPr/>
              <a:tblGrid>
                <a:gridCol w="2377440"/>
                <a:gridCol w="6492240"/>
                <a:gridCol w="2286000"/>
              </a:tblGrid>
              <a:tr h="5829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Tecnología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móvil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nativo — Kotlin + CameraX + Room + MVVM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29+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+ FastAPI + SQLAlchemy async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 / 0.135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YOLO26n (Ultralytics)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Enero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de datos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RDS PostgreSQL (prod) / SQLite (dev-test)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Contenedores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EC2 + RDS — AWS Academy Learner Lab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us-east-1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backend_ci.yml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 · TPY1101 · Evaluación Final Transversal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286000"/>
            <a:ext cx="6400800" cy="6400800"/>
          </a:xfrm>
          <a:prstGeom prst="ellipse">
            <a:avLst/>
          </a:prstGeom>
          <a:solidFill>
            <a:srgbClr val="142E24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777240"/>
            <a:ext cx="777240" cy="777240"/>
          </a:xfrm>
          <a:prstGeom prst="ellipse">
            <a:avLst/>
          </a:prstGeom>
          <a:solidFill>
            <a:srgbClr val="E9B44C"/>
          </a:solidFill>
          <a:ln/>
        </p:spPr>
      </p:sp>
      <p:pic>
        <p:nvPicPr>
          <p:cNvPr id="4" name="Image 0" descr="C:\Users\molte\AppData\Local\Temp\claude\C--Users-molte-Documents-Proyectos-MaduraApp\b52abfea-8927-4ac6-80c8-c401127990a1\scratchpad\ppt_build\icons\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001" y="878281"/>
            <a:ext cx="575158" cy="57515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2880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9B4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VIVO · 5 MINUTOS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828800" y="1170432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 de la app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822960" y="2194560"/>
            <a:ext cx="457200" cy="45720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463040" y="219456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7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/ inicio de sesión (JWT)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22960" y="2852928"/>
            <a:ext cx="457200" cy="45720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463040" y="285292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7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de fruta (mejora de precisión)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22960" y="3511296"/>
            <a:ext cx="457200" cy="45720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463040" y="3511296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7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con cámara o desde galería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22960" y="4169664"/>
            <a:ext cx="457200" cy="45720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4169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463040" y="4169664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7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en semáforo de madurez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22960" y="4828032"/>
            <a:ext cx="457200" cy="45720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463040" y="482803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7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offline (cache Room) y feedback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 · TPY1101 · Evaluación Final Transversal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" name="Image 0" descr="C:\Users\molte\AppData\Local\Temp\claude\C--Users-molte-Documents-Proyectos-MaduraApp\b52abfea-8927-4ac6-80c8-c401127990a1\scratchpad\ppt_build\icons\fl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62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ASEGURAMIENTO DE CALIDAD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pruebas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167335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madurez de la fruta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202082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del docente — cada clase (4 frutas × 3 estados) verificada contra el postproceso del modelo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9646920" y="1764792"/>
            <a:ext cx="1783080" cy="512064"/>
          </a:xfrm>
          <a:prstGeom prst="roundRect">
            <a:avLst>
              <a:gd name="adj" fmla="val 50000"/>
            </a:avLst>
          </a:prstGeom>
          <a:solidFill>
            <a:srgbClr val="1B4332"/>
          </a:solidFill>
          <a:ln/>
        </p:spPr>
      </p:sp>
      <p:sp>
        <p:nvSpPr>
          <p:cNvPr id="10" name="Text 7"/>
          <p:cNvSpPr/>
          <p:nvPr/>
        </p:nvSpPr>
        <p:spPr>
          <a:xfrm>
            <a:off x="9646920" y="1764792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B4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casos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2542032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31520" y="26151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y seguridad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2962656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Registro, login, JWT, políticas de contraseña, auditoría OWASP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46920" y="2706624"/>
            <a:ext cx="1783080" cy="512064"/>
          </a:xfrm>
          <a:prstGeom prst="roundRect">
            <a:avLst>
              <a:gd name="adj" fmla="val 50000"/>
            </a:avLst>
          </a:prstGeom>
          <a:solidFill>
            <a:srgbClr val="1B4332"/>
          </a:solidFill>
          <a:ln/>
        </p:spPr>
      </p:sp>
      <p:sp>
        <p:nvSpPr>
          <p:cNvPr id="15" name="Text 12"/>
          <p:cNvSpPr/>
          <p:nvPr/>
        </p:nvSpPr>
        <p:spPr>
          <a:xfrm>
            <a:off x="9646920" y="2706624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B4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casos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483864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31520" y="355701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Historial, feedback y cache offline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31520" y="39044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por usuario, valoración de diagnósticos, Room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646920" y="3648456"/>
            <a:ext cx="1783080" cy="512064"/>
          </a:xfrm>
          <a:prstGeom prst="roundRect">
            <a:avLst>
              <a:gd name="adj" fmla="val 50000"/>
            </a:avLst>
          </a:prstGeom>
          <a:solidFill>
            <a:srgbClr val="1B4332"/>
          </a:solidFill>
          <a:ln/>
        </p:spPr>
      </p:sp>
      <p:sp>
        <p:nvSpPr>
          <p:cNvPr id="20" name="Text 17"/>
          <p:cNvSpPr/>
          <p:nvPr/>
        </p:nvSpPr>
        <p:spPr>
          <a:xfrm>
            <a:off x="9646920" y="3648456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B4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casos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02920" y="4425696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31520" y="44988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y API REST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731520" y="48463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/predict, /history, validación de entrada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646920" y="4590288"/>
            <a:ext cx="1783080" cy="512064"/>
          </a:xfrm>
          <a:prstGeom prst="roundRect">
            <a:avLst>
              <a:gd name="adj" fmla="val 50000"/>
            </a:avLst>
          </a:prstGeom>
          <a:solidFill>
            <a:srgbClr val="1B4332"/>
          </a:solidFill>
          <a:ln/>
        </p:spPr>
      </p:sp>
      <p:sp>
        <p:nvSpPr>
          <p:cNvPr id="25" name="Text 22"/>
          <p:cNvSpPr/>
          <p:nvPr/>
        </p:nvSpPr>
        <p:spPr>
          <a:xfrm>
            <a:off x="9646920" y="4590288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B4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casos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02920" y="536752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731520" y="54406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y concurrencia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731520" y="578815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Tiempos de respuesta y estabilidad con usuarios simultáneos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9646920" y="5532120"/>
            <a:ext cx="1783080" cy="512064"/>
          </a:xfrm>
          <a:prstGeom prst="roundRect">
            <a:avLst>
              <a:gd name="adj" fmla="val 50000"/>
            </a:avLst>
          </a:prstGeom>
          <a:solidFill>
            <a:srgbClr val="1B4332"/>
          </a:solidFill>
          <a:ln/>
        </p:spPr>
      </p:sp>
      <p:sp>
        <p:nvSpPr>
          <p:cNvPr id="30" name="Text 27"/>
          <p:cNvSpPr/>
          <p:nvPr/>
        </p:nvSpPr>
        <p:spPr>
          <a:xfrm>
            <a:off x="9646920" y="5532120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B4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casos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 · TPY1101 · Evaluación Final Transversal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" name="Image 0" descr="C:\Users\molte\AppData\Local\Temp\claude\C--Users-molte-Documents-Proyectos-MaduraApp\b52abfea-8927-4ac6-80c8-c401127990a1\scratchpad\ppt_build\icons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62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ASEGURAMIENTO DE CALIDAD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 de pruebas y resultados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2697480" cy="1737360"/>
          </a:xfrm>
          <a:prstGeom prst="roundRect">
            <a:avLst>
              <a:gd name="adj" fmla="val 5263"/>
            </a:avLst>
          </a:prstGeom>
          <a:solidFill>
            <a:srgbClr val="1B433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85800" y="173736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B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57/57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685800" y="26060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7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automatizadas en verde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46704" y="1600200"/>
            <a:ext cx="2697480" cy="1737360"/>
          </a:xfrm>
          <a:prstGeom prst="roundRect">
            <a:avLst>
              <a:gd name="adj" fmla="val 5263"/>
            </a:avLst>
          </a:prstGeom>
          <a:solidFill>
            <a:srgbClr val="1B433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529584" y="173736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B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3529584" y="26060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7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backend (pytest)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0488" y="1600200"/>
            <a:ext cx="2697480" cy="1737360"/>
          </a:xfrm>
          <a:prstGeom prst="roundRect">
            <a:avLst>
              <a:gd name="adj" fmla="val 5263"/>
            </a:avLst>
          </a:prstGeom>
          <a:solidFill>
            <a:srgbClr val="1B433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373368" y="173736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B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6373368" y="26060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7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Android (JUnit + MockK)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9034272" y="1600200"/>
            <a:ext cx="2697480" cy="1737360"/>
          </a:xfrm>
          <a:prstGeom prst="roundRect">
            <a:avLst>
              <a:gd name="adj" fmla="val 5263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217152" y="173736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6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76%</a:t>
            </a:r>
            <a:endParaRPr lang="en-US" sz="3600" dirty="0"/>
          </a:p>
        </p:txBody>
      </p:sp>
      <p:sp>
        <p:nvSpPr>
          <p:cNvPr id="17" name="Text 14"/>
          <p:cNvSpPr/>
          <p:nvPr/>
        </p:nvSpPr>
        <p:spPr>
          <a:xfrm>
            <a:off x="9217152" y="26060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código (núcleo 90-100%)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3611880"/>
            <a:ext cx="11155680" cy="2194560"/>
          </a:xfrm>
          <a:prstGeom prst="roundRect">
            <a:avLst>
              <a:gd name="adj" fmla="val 4167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77240" y="3794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verificados end-to-end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77240" y="4206240"/>
            <a:ext cx="10607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JWT (registro, login, expiración, contraseñas)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YOLO26n por clase (12 clases: 4 frutas × 3 estados)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con cache offline (Room) y feedback por escaneo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verificado en AWS EC2 + RDS PostgreSQL (registro → login end-to-end)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 · TPY1101 · Evaluación Final Transversal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" name="Image 0" descr="C:\Users\molte\AppData\Local\Temp\claude\C--Users-molte-Documents-Proyectos-MaduraApp\b52abfea-8927-4ac6-80c8-c401127990a1\scratchpad\ppt_build\icons\tachome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62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Tiempos de respuesta y prueba de concurrencia</a:t>
            </a:r>
            <a:endParaRPr lang="en-US" sz="3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600200"/>
          <a:ext cx="557784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355080" y="1600200"/>
            <a:ext cx="5303520" cy="1508760"/>
          </a:xfrm>
          <a:prstGeom prst="roundRect">
            <a:avLst>
              <a:gd name="adj" fmla="val 6061"/>
            </a:avLst>
          </a:prstGeom>
          <a:solidFill>
            <a:srgbClr val="1B433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6583680" y="16916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B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errores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6583680" y="23774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hasta 50 usuarios concurrentes — el servicio no se cae ni se queda sin memoria bajo carga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355080" y="3246120"/>
            <a:ext cx="5303520" cy="2560320"/>
          </a:xfrm>
          <a:prstGeom prst="roundRect">
            <a:avLst>
              <a:gd name="adj" fmla="val 3571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583680" y="340156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cuello de botella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583680" y="3767328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real: ~200 ms (CPU, sin GPU)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Extremo a extremo en producción (Chile → AWS Virginia): ~600-700 ms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/predict concurrente se estabiliza en ~4,3 req/s — el límite es la CPU durante la inferencia, no la red ni la base de datos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 · TPY1101 · Evaluación Final Transversal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" name="Image 0" descr="C:\Users\molte\AppData\Local\Temp\claude\C--Users-molte-Documents-Proyectos-MaduraApp\b52abfea-8927-4ac6-80c8-c401127990a1\scratchpad\ppt_build\icons\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62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Y MEJORAS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Mejoras aplicadas según resultados de pruebas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2112264" cy="4206240"/>
          </a:xfrm>
          <a:prstGeom prst="roundRect">
            <a:avLst>
              <a:gd name="adj" fmla="val 4329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70432" y="1828800"/>
            <a:ext cx="777240" cy="77724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8" name="Text 5"/>
          <p:cNvSpPr/>
          <p:nvPr/>
        </p:nvSpPr>
        <p:spPr>
          <a:xfrm>
            <a:off x="1170432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B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94360" y="2743200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67512" y="3246120"/>
            <a:ext cx="1783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forzado, CORS acotado, política de contraseñas, HTTPS forzado, cifrado en reposo (AES-256)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743200" y="1600200"/>
            <a:ext cx="2112264" cy="4206240"/>
          </a:xfrm>
          <a:prstGeom prst="roundRect">
            <a:avLst>
              <a:gd name="adj" fmla="val 4329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410712" y="1828800"/>
            <a:ext cx="777240" cy="77724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13" name="Text 10"/>
          <p:cNvSpPr/>
          <p:nvPr/>
        </p:nvSpPr>
        <p:spPr>
          <a:xfrm>
            <a:off x="3410712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B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2834640" y="2743200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907792" y="3246120"/>
            <a:ext cx="1783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Rediseño Material 3: íconos vectoriales, modo oscuro real, feedback táctil, tipografía consistente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983480" y="1600200"/>
            <a:ext cx="2112264" cy="4206240"/>
          </a:xfrm>
          <a:prstGeom prst="roundRect">
            <a:avLst>
              <a:gd name="adj" fmla="val 4329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650992" y="1828800"/>
            <a:ext cx="777240" cy="77724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18" name="Text 15"/>
          <p:cNvSpPr/>
          <p:nvPr/>
        </p:nvSpPr>
        <p:spPr>
          <a:xfrm>
            <a:off x="5650992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B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5074920" y="2743200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148072" y="3246120"/>
            <a:ext cx="1783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y build restaurados a verde tras integrar auth; CI en cada push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223760" y="1600200"/>
            <a:ext cx="2112264" cy="4206240"/>
          </a:xfrm>
          <a:prstGeom prst="roundRect">
            <a:avLst>
              <a:gd name="adj" fmla="val 4329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891272" y="1828800"/>
            <a:ext cx="777240" cy="77724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23" name="Text 20"/>
          <p:cNvSpPr/>
          <p:nvPr/>
        </p:nvSpPr>
        <p:spPr>
          <a:xfrm>
            <a:off x="7891272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B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7315200" y="2743200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Completitud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88352" y="3246120"/>
            <a:ext cx="1783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feedback integrados y probados end-to-end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9464040" y="1600200"/>
            <a:ext cx="2112264" cy="4206240"/>
          </a:xfrm>
          <a:prstGeom prst="roundRect">
            <a:avLst>
              <a:gd name="adj" fmla="val 4329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0131552" y="1828800"/>
            <a:ext cx="777240" cy="77724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28" name="Text 25"/>
          <p:cNvSpPr/>
          <p:nvPr/>
        </p:nvSpPr>
        <p:spPr>
          <a:xfrm>
            <a:off x="10131552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B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9555480" y="2743200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Pertinencia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9628632" y="3246120"/>
            <a:ext cx="1783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ajustadas al dominio agrícola por fruta y estado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mejoras trazables a commits · verificadas con re-ejecución de la suite (57/57 ✓) sin regresiones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 · TPY1101 · Evaluación Final Transversal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</p:sp>
      <p:pic>
        <p:nvPicPr>
          <p:cNvPr id="3" name="Image 0" descr="C:\Users\molte\AppData\Local\Temp\claude\C--Users-molte-Documents-Proyectos-MaduraApp\b52abfea-8927-4ac6-80c8-c401127990a1\scratchpad\ppt_build\icons\light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62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Aprendizajes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4592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04088" y="1828800"/>
            <a:ext cx="457200" cy="45720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25880" y="1755648"/>
            <a:ext cx="44348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temprano evita deuda técnica — ramas de larga vida acumulan conflictos y pruebas rotas.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3182112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04088" y="3364992"/>
            <a:ext cx="457200" cy="45720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2" name="Text 9"/>
          <p:cNvSpPr/>
          <p:nvPr/>
        </p:nvSpPr>
        <p:spPr>
          <a:xfrm>
            <a:off x="704088" y="3364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325880" y="3291840"/>
            <a:ext cx="44348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pruebas automatizadas son una red de seguridad real: detectaron de inmediato regresiones al integrar JWT.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4718304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04088" y="4901184"/>
            <a:ext cx="457200" cy="45720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704088" y="4901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325880" y="4828032"/>
            <a:ext cx="44348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seguridad se diseña con un marco de referencia (OWASP), no se improvisa.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17920" y="164592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19088" y="1828800"/>
            <a:ext cx="457200" cy="45720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20" name="Text 17"/>
          <p:cNvSpPr/>
          <p:nvPr/>
        </p:nvSpPr>
        <p:spPr>
          <a:xfrm>
            <a:off x="641908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040880" y="1755648"/>
            <a:ext cx="44348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infraestructura real rara vez coincide con el plan inicial (Render → AWS): la documentación debe seguir a la implementación.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17920" y="3182112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19088" y="3364992"/>
            <a:ext cx="457200" cy="45720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24" name="Text 21"/>
          <p:cNvSpPr/>
          <p:nvPr/>
        </p:nvSpPr>
        <p:spPr>
          <a:xfrm>
            <a:off x="6419088" y="3364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7040880" y="3291840"/>
            <a:ext cx="44348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restricciones del entorno (AWS Academy Learner Lab) definen la arquitectura tanto como los requisitos.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217920" y="4718304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1F5F2"/>
          </a:solidFill>
          <a:ln/>
          <a:effectLst>
            <a:outerShdw sx="100000" sy="100000" kx="0" ky="0" algn="bl" rotWithShape="0" blurRad="127000" dist="38100" dir="5400000">
              <a:srgbClr val="1B4332">
                <a:alpha val="14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419088" y="4901184"/>
            <a:ext cx="457200" cy="45720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28" name="Text 25"/>
          <p:cNvSpPr/>
          <p:nvPr/>
        </p:nvSpPr>
        <p:spPr>
          <a:xfrm>
            <a:off x="6419088" y="4901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7040880" y="4828032"/>
            <a:ext cx="44348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métrica sin número no es un objetivo — los SMART cambiaron la evaluación de opiniones a evidencia medible.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 · TPY1101 · Evaluación Final Transversal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4114800"/>
            <a:ext cx="5486400" cy="5486400"/>
          </a:xfrm>
          <a:prstGeom prst="ellipse">
            <a:avLst/>
          </a:prstGeom>
          <a:solidFill>
            <a:srgbClr val="142E24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640080"/>
            <a:ext cx="777240" cy="777240"/>
          </a:xfrm>
          <a:prstGeom prst="ellipse">
            <a:avLst/>
          </a:prstGeom>
          <a:solidFill>
            <a:srgbClr val="E9B44C"/>
          </a:solidFill>
          <a:ln/>
        </p:spPr>
      </p:sp>
      <p:pic>
        <p:nvPicPr>
          <p:cNvPr id="4" name="Image 0" descr="C:\Users\molte\AppData\Local\Temp\claude\C--Users-molte-Documents-Proyectos-MaduraApp\b52abfea-8927-4ac6-80c8-c401127990a1\scratchpad\ppt_build\icons\f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841" y="741121"/>
            <a:ext cx="575158" cy="57515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91640" y="731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9B4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691640" y="102412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22960" y="18745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7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 alcanzó el estado de producto funcional, probado y endurecido en seguridad. Partiendo de pérdidas post-cosecha de 20-40% en frutas climatéricas, se construyó un sistema cliente-servidor que clasifica la madurez con un modelo YOLO26n de mAP@50 = 0,9229, superando el KPI (≥0,75) por más de 17 puntos.</a:t>
            </a:r>
            <a:endParaRPr lang="en-US" sz="1450" dirty="0"/>
          </a:p>
        </p:txBody>
      </p:sp>
      <p:pic>
        <p:nvPicPr>
          <p:cNvPr id="8" name="Image 1" descr="C:\Users\molte\AppData\Local\Temp\claude\C--Users-molte-Documents-Proyectos-MaduraApp\b52abfea-8927-4ac6-80c8-c401127990a1\scratchpad\ppt_build\icons\check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81528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80160" y="306324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pruebas de 57 casos, 100% en verde</a:t>
            </a:r>
            <a:endParaRPr lang="en-US" sz="1350" dirty="0"/>
          </a:p>
        </p:txBody>
      </p:sp>
      <p:pic>
        <p:nvPicPr>
          <p:cNvPr id="10" name="Image 2" descr="C:\Users\molte\AppData\Local\Temp\claude\C--Users-molte-Documents-Proyectos-MaduraApp\b52abfea-8927-4ac6-80c8-c401127990a1\scratchpad\ppt_build\icons\check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611880"/>
            <a:ext cx="292608" cy="29260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280160" y="359359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mejoras trazables a commits (seguridad, usabilidad, corrección, completitud, pertinencia)</a:t>
            </a:r>
            <a:endParaRPr lang="en-US" sz="1350" dirty="0"/>
          </a:p>
        </p:txBody>
      </p:sp>
      <p:pic>
        <p:nvPicPr>
          <p:cNvPr id="12" name="Image 3" descr="C:\Users\molte\AppData\Local\Temp\claude\C--Users-molte-Documents-Proyectos-MaduraApp\b52abfea-8927-4ac6-80c8-c401127990a1\scratchpad\ppt_build\icons\check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142232"/>
            <a:ext cx="292608" cy="29260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80160" y="412394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continua sostenida en GitHub Actions</a:t>
            </a:r>
            <a:endParaRPr lang="en-US" sz="1350" dirty="0"/>
          </a:p>
        </p:txBody>
      </p:sp>
      <p:pic>
        <p:nvPicPr>
          <p:cNvPr id="14" name="Image 4" descr="C:\Users\molte\AppData\Local\Temp\claude\C--Users-molte-Documents-Proyectos-MaduraApp\b52abfea-8927-4ac6-80c8-c401127990a1\scratchpad\ppt_build\icons\check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672584"/>
            <a:ext cx="292608" cy="29260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280160" y="46542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AWS (EC2 + RDS) desplegada y verificada end-to-end</a:t>
            </a:r>
            <a:endParaRPr lang="en-US" sz="1350" dirty="0"/>
          </a:p>
        </p:txBody>
      </p:sp>
      <p:sp>
        <p:nvSpPr>
          <p:cNvPr id="16" name="Text 9"/>
          <p:cNvSpPr/>
          <p:nvPr/>
        </p:nvSpPr>
        <p:spPr>
          <a:xfrm>
            <a:off x="822960" y="544068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E9B4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 no solo funciona: protege los datos personales del usuario y ofrece una experiencia coherente, honesta y de nivel productivo.</a:t>
            </a:r>
            <a:endParaRPr lang="en-US" sz="1350" dirty="0"/>
          </a:p>
        </p:txBody>
      </p:sp>
      <p:sp>
        <p:nvSpPr>
          <p:cNvPr id="17" name="Text 1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 · TPY1101 · Evaluación Final Transversal</a:t>
            </a:r>
            <a:endParaRPr lang="en-US" sz="900" dirty="0"/>
          </a:p>
        </p:txBody>
      </p:sp>
      <p:sp>
        <p:nvSpPr>
          <p:cNvPr id="18" name="Text 11"/>
          <p:cNvSpPr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0" y="-3200400"/>
            <a:ext cx="7315200" cy="7315200"/>
          </a:xfrm>
          <a:prstGeom prst="ellipse">
            <a:avLst/>
          </a:prstGeom>
          <a:solidFill>
            <a:srgbClr val="142E24"/>
          </a:solidFill>
          <a:ln/>
        </p:spPr>
      </p:sp>
      <p:sp>
        <p:nvSpPr>
          <p:cNvPr id="3" name="Shape 1"/>
          <p:cNvSpPr/>
          <p:nvPr/>
        </p:nvSpPr>
        <p:spPr>
          <a:xfrm>
            <a:off x="5591556" y="2194560"/>
            <a:ext cx="1005840" cy="1005840"/>
          </a:xfrm>
          <a:prstGeom prst="ellipse">
            <a:avLst/>
          </a:prstGeom>
          <a:solidFill>
            <a:srgbClr val="E9B44C"/>
          </a:solidFill>
          <a:ln/>
        </p:spPr>
      </p:sp>
      <p:pic>
        <p:nvPicPr>
          <p:cNvPr id="4" name="Image 0" descr="C:\Users\molte\AppData\Local\Temp\claude\C--Users-molte-Documents-Proyectos-MaduraApp\b52abfea-8927-4ac6-80c8-c401127990a1\scratchpad\ppt_build\icons\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22315" y="2325319"/>
            <a:ext cx="744322" cy="7443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34290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¿Preguntas?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0" y="43434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 · Claudio Vicente Aro Kath · TPY1101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MaduraApp — Evaluación Final Transversal TPY1101</dc:title>
  <dc:subject>PptxGenJS Presentation</dc:subject>
  <dc:creator>Claudio Vicente Aro Kath</dc:creator>
  <cp:lastModifiedBy>Claudio Vicente Aro Kath</cp:lastModifiedBy>
  <cp:revision>1</cp:revision>
  <dcterms:created xsi:type="dcterms:W3CDTF">2026-07-06T00:13:31Z</dcterms:created>
  <dcterms:modified xsi:type="dcterms:W3CDTF">2026-07-06T00:13:31Z</dcterms:modified>
</cp:coreProperties>
</file>